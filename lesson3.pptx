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3" r:id="rId3"/>
    <p:sldId id="264" r:id="rId4"/>
    <p:sldId id="284" r:id="rId5"/>
    <p:sldId id="265" r:id="rId6"/>
    <p:sldId id="285" r:id="rId7"/>
    <p:sldId id="266" r:id="rId8"/>
    <p:sldId id="267" r:id="rId9"/>
    <p:sldId id="268" r:id="rId10"/>
    <p:sldId id="270" r:id="rId11"/>
    <p:sldId id="271" r:id="rId12"/>
    <p:sldId id="273" r:id="rId13"/>
    <p:sldId id="283" r:id="rId14"/>
    <p:sldId id="274" r:id="rId15"/>
    <p:sldId id="275" r:id="rId16"/>
    <p:sldId id="278" r:id="rId17"/>
    <p:sldId id="279"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C0E84A-423E-E664-7BF7-CC2F4EF4E73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3E1E55DE-D41C-EEC9-D1AB-48ADF2CCEC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CBD99737-EA1D-C76C-B720-E0B5763ECF70}"/>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5" name="页脚占位符 4">
            <a:extLst>
              <a:ext uri="{FF2B5EF4-FFF2-40B4-BE49-F238E27FC236}">
                <a16:creationId xmlns:a16="http://schemas.microsoft.com/office/drawing/2014/main" id="{13139C29-1F96-202B-D3F9-EAA2D3525FA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D787818-F974-EFDE-546B-7B5F690D9B65}"/>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4185714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13BD13-22E0-E2DB-F1BF-E1EC674E199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3C8F386-B8F5-CC85-F234-58546F2E0F44}"/>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85B6C38-A6EE-3315-97E6-3598A83A122C}"/>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5" name="页脚占位符 4">
            <a:extLst>
              <a:ext uri="{FF2B5EF4-FFF2-40B4-BE49-F238E27FC236}">
                <a16:creationId xmlns:a16="http://schemas.microsoft.com/office/drawing/2014/main" id="{362541FA-53F8-9887-B3EC-1439FCF83B3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FBFC0D9-71CE-599D-47CE-EFE35A694969}"/>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3927323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7A8E73-97D8-E3B1-9387-064C4692043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467E75B7-E73B-46FA-7A24-1E264EF67E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B959740-13E6-1B0A-A55D-E5847FC27DB6}"/>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5" name="页脚占位符 4">
            <a:extLst>
              <a:ext uri="{FF2B5EF4-FFF2-40B4-BE49-F238E27FC236}">
                <a16:creationId xmlns:a16="http://schemas.microsoft.com/office/drawing/2014/main" id="{9422D611-676A-ACEC-31EB-93011669C49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6D3A5FE-55C9-72D9-C174-104A6672FF0A}"/>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1259435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119C48-61D9-889B-0088-612327DB7E92}"/>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DABC24D0-D4F4-2E10-3A03-6F2B75329C50}"/>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DC6C0537-85FD-A866-6FEE-275EEA401951}"/>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B8FD3D2A-1F93-9E96-A6DF-2CD45925A7D6}"/>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6" name="页脚占位符 5">
            <a:extLst>
              <a:ext uri="{FF2B5EF4-FFF2-40B4-BE49-F238E27FC236}">
                <a16:creationId xmlns:a16="http://schemas.microsoft.com/office/drawing/2014/main" id="{90CE254E-A642-F3A7-7A47-59CDDD9E699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FEEABE0-AA82-F94A-5C7A-6A13DB375B32}"/>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2331694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8AF10-9518-2EF7-EFFB-4081BE524532}"/>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830A3FF2-AD54-6122-5252-E840C32B30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843DE1FE-4EAD-3F62-9C06-8110604D2D53}"/>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4600C484-50F5-9E6F-819E-FB43379438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35081209-1548-2775-5623-2CD5C0C15A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46376717-E4D3-588A-D0DA-8A91FD201270}"/>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8" name="页脚占位符 7">
            <a:extLst>
              <a:ext uri="{FF2B5EF4-FFF2-40B4-BE49-F238E27FC236}">
                <a16:creationId xmlns:a16="http://schemas.microsoft.com/office/drawing/2014/main" id="{D1592B3F-295D-2A95-9CEB-DC26CC058B4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B87C26C4-9167-C36B-435D-A26EFE1CAB5F}"/>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106913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DC0412-4917-BF3C-BE7D-FF13C78FE544}"/>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A22AC1A4-418C-1C6D-6FC7-959875EABC88}"/>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4" name="页脚占位符 3">
            <a:extLst>
              <a:ext uri="{FF2B5EF4-FFF2-40B4-BE49-F238E27FC236}">
                <a16:creationId xmlns:a16="http://schemas.microsoft.com/office/drawing/2014/main" id="{4D5942DE-7676-D141-C386-15B322971AC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7239D984-9CB6-3241-00BE-1BC3E859C6C4}"/>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1236263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1C63571-51AE-11B7-8B45-CDC93420D2EB}"/>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3" name="页脚占位符 2">
            <a:extLst>
              <a:ext uri="{FF2B5EF4-FFF2-40B4-BE49-F238E27FC236}">
                <a16:creationId xmlns:a16="http://schemas.microsoft.com/office/drawing/2014/main" id="{A1A9ACD4-9DB9-6511-42DC-35C748D6CB52}"/>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11C24D3-4357-83B0-2BC6-1AABC3DF9E4A}"/>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3667371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899A9-ADB4-6C85-C5C6-2AC81BBBDFCD}"/>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24331F2-B3EB-A1D5-A81D-752413D5DB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7632403-0A98-5844-CC40-6E8F1058E3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EB75979-CB68-E790-95F8-147B77941594}"/>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6" name="页脚占位符 5">
            <a:extLst>
              <a:ext uri="{FF2B5EF4-FFF2-40B4-BE49-F238E27FC236}">
                <a16:creationId xmlns:a16="http://schemas.microsoft.com/office/drawing/2014/main" id="{05008E63-16A5-6FBF-A814-EFB0CA220CE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35CD034-3C06-72C9-D12F-C0BE4AEE35C0}"/>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2710134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F8FCDB-6612-7C0F-AC48-DABD435DBDF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5E824EEA-3774-79AA-619F-FBC4CDEBD3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68D41365-91DF-2220-744E-0B99E1AB2D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42B0C73-D6FA-761F-8CBC-29ED3A25D36F}"/>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6" name="页脚占位符 5">
            <a:extLst>
              <a:ext uri="{FF2B5EF4-FFF2-40B4-BE49-F238E27FC236}">
                <a16:creationId xmlns:a16="http://schemas.microsoft.com/office/drawing/2014/main" id="{09170D39-D8BD-5EB2-6544-EB70F254525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D08EE5D-4ED3-7EF0-F4ED-E0E96910D4DF}"/>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3170218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AF20E9-0C1B-CCEC-7F9B-5428D96D7D8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1679B22-84DD-FB78-0866-DBC23F5631BC}"/>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72D580A-F276-F4A7-24DE-A6233E9D39D5}"/>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5" name="页脚占位符 4">
            <a:extLst>
              <a:ext uri="{FF2B5EF4-FFF2-40B4-BE49-F238E27FC236}">
                <a16:creationId xmlns:a16="http://schemas.microsoft.com/office/drawing/2014/main" id="{E9EFEF70-1A10-5199-BC9D-6B32527995E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E772684-0ABB-04D2-1259-148ED48F2479}"/>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2308846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5B1E480-3BCD-3FBB-CCB7-0B5DBA9D0C4F}"/>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FA56375-AEEC-70E5-6391-0346D786B6AC}"/>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6145711-9A84-3747-ADF8-6408DED89A66}"/>
              </a:ext>
            </a:extLst>
          </p:cNvPr>
          <p:cNvSpPr>
            <a:spLocks noGrp="1"/>
          </p:cNvSpPr>
          <p:nvPr>
            <p:ph type="dt" sz="half" idx="10"/>
          </p:nvPr>
        </p:nvSpPr>
        <p:spPr/>
        <p:txBody>
          <a:bodyPr/>
          <a:lstStyle/>
          <a:p>
            <a:fld id="{68EB9A6C-3CCC-6846-8CB4-EFD1BB360CDC}" type="datetimeFigureOut">
              <a:rPr kumimoji="1" lang="zh-CN" altLang="en-US" smtClean="0"/>
              <a:t>2026/10/8</a:t>
            </a:fld>
            <a:endParaRPr kumimoji="1" lang="zh-CN" altLang="en-US"/>
          </a:p>
        </p:txBody>
      </p:sp>
      <p:sp>
        <p:nvSpPr>
          <p:cNvPr id="5" name="页脚占位符 4">
            <a:extLst>
              <a:ext uri="{FF2B5EF4-FFF2-40B4-BE49-F238E27FC236}">
                <a16:creationId xmlns:a16="http://schemas.microsoft.com/office/drawing/2014/main" id="{E2077349-FC46-70BA-4707-95BC3DC2737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4BDC9D0-9361-66BE-B134-B252EA831BD8}"/>
              </a:ext>
            </a:extLst>
          </p:cNvPr>
          <p:cNvSpPr>
            <a:spLocks noGrp="1"/>
          </p:cNvSpPr>
          <p:nvPr>
            <p:ph type="sldNum" sz="quarter" idx="12"/>
          </p:nvPr>
        </p:nvSpPr>
        <p:spPr/>
        <p:txBody>
          <a:body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3475605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1D19A8C-874F-0689-D674-5FE5FB6233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4A69F1E7-3E49-D59A-24A1-398BF3B762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C97D70A-BCFC-67FD-49A6-2B04FF2F23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EB9A6C-3CCC-6846-8CB4-EFD1BB360CDC}" type="datetimeFigureOut">
              <a:rPr kumimoji="1" lang="zh-CN" altLang="en-US" smtClean="0"/>
              <a:t>2026/10/8</a:t>
            </a:fld>
            <a:endParaRPr kumimoji="1" lang="zh-CN" altLang="en-US"/>
          </a:p>
        </p:txBody>
      </p:sp>
      <p:sp>
        <p:nvSpPr>
          <p:cNvPr id="5" name="页脚占位符 4">
            <a:extLst>
              <a:ext uri="{FF2B5EF4-FFF2-40B4-BE49-F238E27FC236}">
                <a16:creationId xmlns:a16="http://schemas.microsoft.com/office/drawing/2014/main" id="{898A472B-74DE-15C9-93AD-F2DF07623E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69E99C1-765A-4627-328F-8EF875CD3F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A41BE-1377-744D-B0BB-A0CF393D5903}" type="slidenum">
              <a:rPr kumimoji="1" lang="zh-CN" altLang="en-US" smtClean="0"/>
              <a:t>‹#›</a:t>
            </a:fld>
            <a:endParaRPr kumimoji="1" lang="zh-CN" altLang="en-US"/>
          </a:p>
        </p:txBody>
      </p:sp>
    </p:spTree>
    <p:extLst>
      <p:ext uri="{BB962C8B-B14F-4D97-AF65-F5344CB8AC3E}">
        <p14:creationId xmlns:p14="http://schemas.microsoft.com/office/powerpoint/2010/main" val="1549549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8583C2-1C60-F4B3-5E2A-18D5864C8FBA}"/>
              </a:ext>
            </a:extLst>
          </p:cNvPr>
          <p:cNvSpPr>
            <a:spLocks noGrp="1"/>
          </p:cNvSpPr>
          <p:nvPr>
            <p:ph type="ctrTitle"/>
          </p:nvPr>
        </p:nvSpPr>
        <p:spPr/>
        <p:txBody>
          <a:bodyPr/>
          <a:lstStyle/>
          <a:p>
            <a:endParaRPr kumimoji="1" lang="zh-CN" altLang="en-US"/>
          </a:p>
        </p:txBody>
      </p:sp>
      <p:sp>
        <p:nvSpPr>
          <p:cNvPr id="3" name="副标题 2">
            <a:extLst>
              <a:ext uri="{FF2B5EF4-FFF2-40B4-BE49-F238E27FC236}">
                <a16:creationId xmlns:a16="http://schemas.microsoft.com/office/drawing/2014/main" id="{8DA98554-DA82-F603-2ADD-C5758519A576}"/>
              </a:ext>
            </a:extLst>
          </p:cNvPr>
          <p:cNvSpPr>
            <a:spLocks noGrp="1"/>
          </p:cNvSpPr>
          <p:nvPr>
            <p:ph type="subTitle" idx="1"/>
          </p:nvPr>
        </p:nvSpPr>
        <p:spPr/>
        <p:txBody>
          <a:bodyPr/>
          <a:lstStyle/>
          <a:p>
            <a:endParaRPr kumimoji="1" lang="zh-CN" altLang="en-US"/>
          </a:p>
        </p:txBody>
      </p:sp>
    </p:spTree>
    <p:extLst>
      <p:ext uri="{BB962C8B-B14F-4D97-AF65-F5344CB8AC3E}">
        <p14:creationId xmlns:p14="http://schemas.microsoft.com/office/powerpoint/2010/main" val="378126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2860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语法点（一）</a:t>
            </a:r>
          </a:p>
        </p:txBody>
      </p:sp>
      <p:sp>
        <p:nvSpPr>
          <p:cNvPr id="6" name="Rounded Rectangle 5"/>
          <p:cNvSpPr/>
          <p:nvPr/>
        </p:nvSpPr>
        <p:spPr>
          <a:xfrm>
            <a:off x="548640" y="1371600"/>
            <a:ext cx="10972800" cy="822960"/>
          </a:xfrm>
          <a:prstGeom prst="roundRect">
            <a:avLst/>
          </a:prstGeom>
          <a:solidFill>
            <a:srgbClr val="FFF3E0"/>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18978" y="1508760"/>
            <a:ext cx="3032125" cy="583565"/>
          </a:xfrm>
          <a:prstGeom prst="rect">
            <a:avLst/>
          </a:prstGeom>
          <a:noFill/>
        </p:spPr>
        <p:txBody>
          <a:bodyPr wrap="none">
            <a:spAutoFit/>
          </a:bodyPr>
          <a:lstStyle/>
          <a:p>
            <a:pPr algn="ctr">
              <a:defRPr sz="2800" b="1">
                <a:solidFill>
                  <a:srgbClr val="FF6B35"/>
                </a:solidFill>
                <a:latin typeface="微软雅黑"/>
              </a:defRPr>
            </a:pPr>
            <a:r>
              <a:rPr sz="3200">
                <a:latin typeface="楷体" charset="0"/>
                <a:ea typeface="楷体" charset="0"/>
                <a:cs typeface="楷体" charset="0"/>
              </a:rPr>
              <a:t>明知……还……</a:t>
            </a:r>
          </a:p>
        </p:txBody>
      </p:sp>
      <p:sp>
        <p:nvSpPr>
          <p:cNvPr id="8" name="TextBox 7"/>
          <p:cNvSpPr txBox="1"/>
          <p:nvPr/>
        </p:nvSpPr>
        <p:spPr>
          <a:xfrm>
            <a:off x="731520" y="2377440"/>
            <a:ext cx="10515600" cy="953135"/>
          </a:xfrm>
          <a:prstGeom prst="rect">
            <a:avLst/>
          </a:prstGeom>
          <a:noFill/>
        </p:spPr>
        <p:txBody>
          <a:bodyPr wrap="square">
            <a:spAutoFit/>
          </a:bodyPr>
          <a:lstStyle/>
          <a:p>
            <a:pPr>
              <a:lnSpc>
                <a:spcPct val="140000"/>
              </a:lnSpc>
              <a:defRPr sz="2000">
                <a:solidFill>
                  <a:srgbClr val="2D2D2D"/>
                </a:solidFill>
                <a:latin typeface="微软雅黑"/>
              </a:defRPr>
            </a:pPr>
            <a:r>
              <a:rPr dirty="0" err="1">
                <a:latin typeface="楷体" charset="0"/>
                <a:ea typeface="楷体" charset="0"/>
                <a:cs typeface="楷体" charset="0"/>
              </a:rPr>
              <a:t>用法：表示</a:t>
            </a:r>
            <a:r>
              <a:rPr lang="zh-CN" dirty="0">
                <a:latin typeface="楷体" charset="0"/>
                <a:ea typeface="楷体" charset="0"/>
                <a:cs typeface="楷体" charset="0"/>
              </a:rPr>
              <a:t>“</a:t>
            </a:r>
            <a:r>
              <a:rPr dirty="0" err="1">
                <a:latin typeface="楷体" charset="0"/>
                <a:ea typeface="楷体" charset="0"/>
                <a:cs typeface="楷体" charset="0"/>
              </a:rPr>
              <a:t>明明知道某种情况，却仍然做出某种行为</a:t>
            </a:r>
            <a:r>
              <a:rPr lang="zh-CN" dirty="0">
                <a:latin typeface="楷体" charset="0"/>
                <a:ea typeface="楷体" charset="0"/>
                <a:cs typeface="楷体" charset="0"/>
              </a:rPr>
              <a:t>”</a:t>
            </a:r>
            <a:r>
              <a:rPr dirty="0">
                <a:latin typeface="楷体" charset="0"/>
                <a:ea typeface="楷体" charset="0"/>
                <a:cs typeface="楷体" charset="0"/>
              </a:rPr>
              <a:t>。</a:t>
            </a:r>
            <a:r>
              <a:rPr dirty="0" err="1">
                <a:latin typeface="楷体" charset="0"/>
                <a:ea typeface="楷体" charset="0"/>
                <a:cs typeface="楷体" charset="0"/>
              </a:rPr>
              <a:t>带有批评、不满的语气，强调行为的不合理</a:t>
            </a:r>
            <a:r>
              <a:rPr dirty="0">
                <a:latin typeface="楷体" charset="0"/>
                <a:ea typeface="楷体" charset="0"/>
                <a:cs typeface="楷体" charset="0"/>
              </a:rPr>
              <a:t>。</a:t>
            </a:r>
          </a:p>
        </p:txBody>
      </p:sp>
      <p:sp>
        <p:nvSpPr>
          <p:cNvPr id="9" name="Rounded Rectangle 8"/>
          <p:cNvSpPr/>
          <p:nvPr/>
        </p:nvSpPr>
        <p:spPr>
          <a:xfrm>
            <a:off x="731520" y="34747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611880"/>
            <a:ext cx="6009640" cy="39878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1. </a:t>
            </a:r>
            <a:r>
              <a:rPr sz="2000" dirty="0" err="1">
                <a:latin typeface="楷体" charset="0"/>
                <a:ea typeface="楷体" charset="0"/>
                <a:cs typeface="楷体" charset="0"/>
              </a:rPr>
              <a:t>健身房明知自己马上要倒闭了，还鼓动顾客办卡</a:t>
            </a:r>
            <a:r>
              <a:rPr sz="2000" dirty="0">
                <a:latin typeface="楷体" charset="0"/>
                <a:ea typeface="楷体" charset="0"/>
                <a:cs typeface="楷体" charset="0"/>
              </a:rPr>
              <a:t>。</a:t>
            </a:r>
          </a:p>
        </p:txBody>
      </p:sp>
      <p:sp>
        <p:nvSpPr>
          <p:cNvPr id="11" name="Rounded Rectangle 10"/>
          <p:cNvSpPr/>
          <p:nvPr/>
        </p:nvSpPr>
        <p:spPr>
          <a:xfrm>
            <a:off x="731520" y="43891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526280"/>
            <a:ext cx="5247640" cy="39878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2. </a:t>
            </a:r>
            <a:r>
              <a:rPr sz="2000" dirty="0" err="1">
                <a:latin typeface="楷体" charset="0"/>
                <a:ea typeface="楷体" charset="0"/>
                <a:cs typeface="楷体" charset="0"/>
              </a:rPr>
              <a:t>他明知考试很重要，还每天打游戏到半夜</a:t>
            </a:r>
            <a:r>
              <a:rPr sz="2000" dirty="0">
                <a:latin typeface="楷体" charset="0"/>
                <a:ea typeface="楷体" charset="0"/>
                <a:cs typeface="楷体" charset="0"/>
              </a:rPr>
              <a:t>。</a:t>
            </a:r>
          </a:p>
        </p:txBody>
      </p:sp>
      <p:sp>
        <p:nvSpPr>
          <p:cNvPr id="13" name="Rounded Rectangle 12"/>
          <p:cNvSpPr/>
          <p:nvPr/>
        </p:nvSpPr>
        <p:spPr>
          <a:xfrm>
            <a:off x="731520" y="53035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楷体" charset="0"/>
              <a:ea typeface="楷体" charset="0"/>
            </a:endParaRPr>
          </a:p>
        </p:txBody>
      </p:sp>
      <p:sp>
        <p:nvSpPr>
          <p:cNvPr id="14" name="TextBox 13"/>
          <p:cNvSpPr txBox="1"/>
          <p:nvPr/>
        </p:nvSpPr>
        <p:spPr>
          <a:xfrm>
            <a:off x="914400" y="5440680"/>
            <a:ext cx="5755640" cy="398780"/>
          </a:xfrm>
          <a:prstGeom prst="rect">
            <a:avLst/>
          </a:prstGeom>
          <a:noFill/>
        </p:spPr>
        <p:txBody>
          <a:bodyPr wrap="none">
            <a:spAutoFit/>
          </a:bodyPr>
          <a:lstStyle/>
          <a:p>
            <a:pPr algn="l">
              <a:buClrTx/>
              <a:buSzTx/>
              <a:buFontTx/>
              <a:defRPr sz="1800">
                <a:solidFill>
                  <a:srgbClr val="2D2D2D"/>
                </a:solidFill>
                <a:latin typeface="微软雅黑"/>
              </a:defRPr>
            </a:pPr>
            <a:r>
              <a:rPr sz="2000">
                <a:latin typeface="楷体" charset="0"/>
                <a:ea typeface="楷体" charset="0"/>
                <a:cs typeface="楷体" charset="0"/>
              </a:rPr>
              <a:t>3. 商家明知商品有质量问题，还继续卖给消费者。</a:t>
            </a:r>
          </a:p>
        </p:txBody>
      </p:sp>
      <p:sp>
        <p:nvSpPr>
          <p:cNvPr id="15" name="TextBox 14"/>
          <p:cNvSpPr txBox="1"/>
          <p:nvPr/>
        </p:nvSpPr>
        <p:spPr>
          <a:xfrm>
            <a:off x="731520" y="6271895"/>
            <a:ext cx="10515600" cy="548640"/>
          </a:xfrm>
          <a:prstGeom prst="rect">
            <a:avLst/>
          </a:prstGeom>
          <a:noFill/>
        </p:spPr>
        <p:txBody>
          <a:bodyPr wrap="none">
            <a:spAutoFit/>
          </a:bodyPr>
          <a:lstStyle/>
          <a:p>
            <a:pPr>
              <a:defRPr sz="1600" i="1">
                <a:solidFill>
                  <a:srgbClr val="888888"/>
                </a:solidFill>
                <a:latin typeface="微软雅黑"/>
              </a:defRPr>
            </a:pPr>
            <a:r>
              <a:rPr>
                <a:latin typeface="楷体" charset="0"/>
                <a:ea typeface="楷体" charset="0"/>
                <a:cs typeface="楷体" charset="0"/>
              </a:rPr>
              <a:t>💡 注意：前后两个分句的主语通常相同，"明知"后面接小句或名词短语。</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语法点（二）</a:t>
            </a:r>
          </a:p>
        </p:txBody>
      </p:sp>
      <p:sp>
        <p:nvSpPr>
          <p:cNvPr id="6" name="Rounded Rectangle 5"/>
          <p:cNvSpPr/>
          <p:nvPr/>
        </p:nvSpPr>
        <p:spPr>
          <a:xfrm>
            <a:off x="548640" y="1371600"/>
            <a:ext cx="10972800" cy="822960"/>
          </a:xfrm>
          <a:prstGeom prst="roundRect">
            <a:avLst/>
          </a:prstGeom>
          <a:solidFill>
            <a:srgbClr val="FFF3E0"/>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010025" y="1508760"/>
            <a:ext cx="4050030" cy="583565"/>
          </a:xfrm>
          <a:prstGeom prst="rect">
            <a:avLst/>
          </a:prstGeom>
          <a:noFill/>
        </p:spPr>
        <p:txBody>
          <a:bodyPr wrap="none">
            <a:spAutoFit/>
          </a:bodyPr>
          <a:lstStyle/>
          <a:p>
            <a:pPr algn="ctr">
              <a:defRPr sz="2800" b="1">
                <a:solidFill>
                  <a:srgbClr val="FF6B35"/>
                </a:solidFill>
                <a:latin typeface="微软雅黑"/>
              </a:defRPr>
            </a:pPr>
            <a:r>
              <a:rPr sz="3200">
                <a:latin typeface="楷体" charset="0"/>
                <a:ea typeface="楷体" charset="0"/>
                <a:cs typeface="楷体" charset="0"/>
              </a:rPr>
              <a:t>不仅……还/而且……</a:t>
            </a:r>
          </a:p>
        </p:txBody>
      </p:sp>
      <p:sp>
        <p:nvSpPr>
          <p:cNvPr id="8" name="TextBox 7"/>
          <p:cNvSpPr txBox="1"/>
          <p:nvPr/>
        </p:nvSpPr>
        <p:spPr>
          <a:xfrm>
            <a:off x="731520" y="2642235"/>
            <a:ext cx="10515600" cy="521970"/>
          </a:xfrm>
          <a:prstGeom prst="rect">
            <a:avLst/>
          </a:prstGeom>
          <a:noFill/>
        </p:spPr>
        <p:txBody>
          <a:bodyPr wrap="square">
            <a:spAutoFit/>
          </a:bodyPr>
          <a:lstStyle/>
          <a:p>
            <a:pPr>
              <a:lnSpc>
                <a:spcPct val="140000"/>
              </a:lnSpc>
              <a:defRPr sz="2000">
                <a:solidFill>
                  <a:srgbClr val="2D2D2D"/>
                </a:solidFill>
                <a:latin typeface="微软雅黑"/>
              </a:defRPr>
            </a:pPr>
            <a:r>
              <a:rPr dirty="0" err="1">
                <a:latin typeface="楷体" charset="0"/>
                <a:ea typeface="楷体" charset="0"/>
                <a:cs typeface="楷体" charset="0"/>
              </a:rPr>
              <a:t>用法：表示递进关系，后一部分在程度、范围上比前一部分更进一步</a:t>
            </a:r>
            <a:r>
              <a:rPr dirty="0">
                <a:latin typeface="楷体" charset="0"/>
                <a:ea typeface="楷体" charset="0"/>
                <a:cs typeface="楷体" charset="0"/>
              </a:rPr>
              <a:t>。</a:t>
            </a:r>
            <a:endParaRPr dirty="0">
              <a:latin typeface="字由点字青花楷" charset="0"/>
            </a:endParaRPr>
          </a:p>
        </p:txBody>
      </p:sp>
      <p:sp>
        <p:nvSpPr>
          <p:cNvPr id="9" name="Rounded Rectangle 8"/>
          <p:cNvSpPr/>
          <p:nvPr/>
        </p:nvSpPr>
        <p:spPr>
          <a:xfrm>
            <a:off x="731520" y="34747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611880"/>
            <a:ext cx="7237879" cy="400110"/>
          </a:xfrm>
          <a:prstGeom prst="rect">
            <a:avLst/>
          </a:prstGeom>
          <a:noFill/>
        </p:spPr>
        <p:txBody>
          <a:bodyPr wrap="none">
            <a:spAutoFit/>
          </a:bodyPr>
          <a:lstStyle/>
          <a:p>
            <a:pPr algn="l">
              <a:buClrTx/>
              <a:buSzTx/>
              <a:buFontTx/>
              <a:defRPr sz="1800">
                <a:solidFill>
                  <a:srgbClr val="2D2D2D"/>
                </a:solidFill>
                <a:latin typeface="微软雅黑"/>
              </a:defRPr>
            </a:pPr>
            <a:r>
              <a:rPr sz="2000" dirty="0">
                <a:latin typeface="楷体" charset="0"/>
                <a:ea typeface="楷体" charset="0"/>
                <a:cs typeface="楷体" charset="0"/>
              </a:rPr>
              <a:t>1. </a:t>
            </a:r>
            <a:r>
              <a:rPr sz="2000" dirty="0" err="1">
                <a:latin typeface="楷体" charset="0"/>
                <a:ea typeface="楷体" charset="0"/>
                <a:cs typeface="楷体" charset="0"/>
              </a:rPr>
              <a:t>李先生不仅要求</a:t>
            </a:r>
            <a:r>
              <a:rPr sz="2000" dirty="0" err="1">
                <a:latin typeface="FZKTPY01" panose="02000500000000000000" pitchFamily="2" charset="-122"/>
                <a:ea typeface="FZKTPY01" panose="02000500000000000000" pitchFamily="2" charset="-122"/>
                <a:cs typeface="楷体" charset="0"/>
              </a:rPr>
              <a:t>退还剩余</a:t>
            </a:r>
            <a:r>
              <a:rPr sz="2000" dirty="0" err="1">
                <a:latin typeface="楷体" charset="0"/>
                <a:ea typeface="楷体" charset="0"/>
                <a:cs typeface="楷体" charset="0"/>
              </a:rPr>
              <a:t>服务费，还要求三倍</a:t>
            </a:r>
            <a:r>
              <a:rPr sz="2000" dirty="0" err="1">
                <a:latin typeface="FZKTPY01" panose="02000500000000000000" pitchFamily="2" charset="-122"/>
                <a:ea typeface="FZKTPY01" panose="02000500000000000000" pitchFamily="2" charset="-122"/>
                <a:cs typeface="楷体" charset="0"/>
              </a:rPr>
              <a:t>惩罚</a:t>
            </a:r>
            <a:r>
              <a:rPr sz="2000" dirty="0" err="1">
                <a:latin typeface="楷体" charset="0"/>
                <a:ea typeface="楷体" charset="0"/>
                <a:cs typeface="楷体" charset="0"/>
              </a:rPr>
              <a:t>性</a:t>
            </a:r>
            <a:r>
              <a:rPr sz="2000" dirty="0" err="1">
                <a:latin typeface="FZKTPY01" panose="02000500000000000000" pitchFamily="2" charset="-122"/>
                <a:ea typeface="FZKTPY01" panose="02000500000000000000" pitchFamily="2" charset="-122"/>
                <a:cs typeface="楷体" charset="0"/>
              </a:rPr>
              <a:t>赔偿</a:t>
            </a:r>
            <a:r>
              <a:rPr sz="2000" dirty="0">
                <a:latin typeface="楷体" charset="0"/>
                <a:ea typeface="楷体" charset="0"/>
                <a:cs typeface="楷体" charset="0"/>
              </a:rPr>
              <a:t>。</a:t>
            </a:r>
          </a:p>
        </p:txBody>
      </p:sp>
      <p:sp>
        <p:nvSpPr>
          <p:cNvPr id="11" name="Rounded Rectangle 10"/>
          <p:cNvSpPr/>
          <p:nvPr/>
        </p:nvSpPr>
        <p:spPr>
          <a:xfrm>
            <a:off x="731520" y="43891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526280"/>
            <a:ext cx="5698996" cy="400110"/>
          </a:xfrm>
          <a:prstGeom prst="rect">
            <a:avLst/>
          </a:prstGeom>
          <a:noFill/>
        </p:spPr>
        <p:txBody>
          <a:bodyPr wrap="none">
            <a:spAutoFit/>
          </a:bodyPr>
          <a:lstStyle/>
          <a:p>
            <a:pPr algn="l">
              <a:buClrTx/>
              <a:buSzTx/>
              <a:buFontTx/>
              <a:defRPr sz="1800">
                <a:solidFill>
                  <a:srgbClr val="2D2D2D"/>
                </a:solidFill>
                <a:latin typeface="微软雅黑"/>
              </a:defRPr>
            </a:pPr>
            <a:r>
              <a:rPr sz="2000" dirty="0">
                <a:latin typeface="楷体" charset="0"/>
                <a:ea typeface="楷体" charset="0"/>
                <a:cs typeface="楷体" charset="0"/>
              </a:rPr>
              <a:t>2. </a:t>
            </a:r>
            <a:r>
              <a:rPr sz="2000" dirty="0" err="1">
                <a:latin typeface="楷体" charset="0"/>
                <a:ea typeface="楷体" charset="0"/>
                <a:cs typeface="楷体" charset="0"/>
              </a:rPr>
              <a:t>这家健身房不仅</a:t>
            </a:r>
            <a:r>
              <a:rPr sz="2000" dirty="0" err="1">
                <a:latin typeface="FZKTPY01" panose="02000500000000000000" pitchFamily="2" charset="-122"/>
                <a:ea typeface="FZKTPY01" panose="02000500000000000000" pitchFamily="2" charset="-122"/>
                <a:cs typeface="楷体" charset="0"/>
              </a:rPr>
              <a:t>拖欠</a:t>
            </a:r>
            <a:r>
              <a:rPr sz="2000" dirty="0" err="1">
                <a:latin typeface="楷体" charset="0"/>
                <a:ea typeface="楷体" charset="0"/>
                <a:cs typeface="楷体" charset="0"/>
              </a:rPr>
              <a:t>房租，还拖欠员工工资</a:t>
            </a:r>
            <a:r>
              <a:rPr sz="2000" dirty="0">
                <a:latin typeface="楷体" charset="0"/>
                <a:ea typeface="楷体" charset="0"/>
                <a:cs typeface="楷体" charset="0"/>
              </a:rPr>
              <a:t>。</a:t>
            </a:r>
          </a:p>
        </p:txBody>
      </p:sp>
      <p:sp>
        <p:nvSpPr>
          <p:cNvPr id="13" name="Rounded Rectangle 12"/>
          <p:cNvSpPr/>
          <p:nvPr/>
        </p:nvSpPr>
        <p:spPr>
          <a:xfrm>
            <a:off x="731520" y="53035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440680"/>
            <a:ext cx="7494359" cy="400110"/>
          </a:xfrm>
          <a:prstGeom prst="rect">
            <a:avLst/>
          </a:prstGeom>
          <a:noFill/>
        </p:spPr>
        <p:txBody>
          <a:bodyPr wrap="none">
            <a:spAutoFit/>
          </a:bodyPr>
          <a:lstStyle/>
          <a:p>
            <a:pPr algn="l">
              <a:buClrTx/>
              <a:buSzTx/>
              <a:buFontTx/>
              <a:defRPr sz="1800">
                <a:solidFill>
                  <a:srgbClr val="2D2D2D"/>
                </a:solidFill>
                <a:latin typeface="微软雅黑"/>
              </a:defRPr>
            </a:pPr>
            <a:r>
              <a:rPr sz="2000" dirty="0">
                <a:latin typeface="楷体" charset="0"/>
                <a:ea typeface="楷体" charset="0"/>
                <a:cs typeface="楷体" charset="0"/>
              </a:rPr>
              <a:t>3. </a:t>
            </a:r>
            <a:r>
              <a:rPr sz="2000" dirty="0" err="1">
                <a:latin typeface="FZKTPY01" panose="02000500000000000000" pitchFamily="2" charset="-122"/>
                <a:ea typeface="FZKTPY01" panose="02000500000000000000" pitchFamily="2" charset="-122"/>
                <a:cs typeface="楷体" charset="0"/>
              </a:rPr>
              <a:t>新规</a:t>
            </a:r>
            <a:r>
              <a:rPr sz="2000" dirty="0" err="1">
                <a:latin typeface="楷体" charset="0"/>
                <a:ea typeface="楷体" charset="0"/>
                <a:cs typeface="楷体" charset="0"/>
              </a:rPr>
              <a:t>不仅保护消费者</a:t>
            </a:r>
            <a:r>
              <a:rPr sz="2000" dirty="0" err="1">
                <a:latin typeface="FZKTPY01" panose="02000500000000000000" pitchFamily="2" charset="-122"/>
                <a:ea typeface="FZKTPY01" panose="02000500000000000000" pitchFamily="2" charset="-122"/>
                <a:cs typeface="楷体" charset="0"/>
              </a:rPr>
              <a:t>退款权利</a:t>
            </a:r>
            <a:r>
              <a:rPr sz="2000" dirty="0" err="1">
                <a:latin typeface="楷体" charset="0"/>
                <a:ea typeface="楷体" charset="0"/>
                <a:cs typeface="楷体" charset="0"/>
              </a:rPr>
              <a:t>，还加重了经营者的违法成本</a:t>
            </a:r>
            <a:r>
              <a:rPr sz="2000" dirty="0">
                <a:latin typeface="楷体" charset="0"/>
                <a:ea typeface="楷体" charset="0"/>
                <a:cs typeface="楷体" charset="0"/>
              </a:rPr>
              <a:t>。</a:t>
            </a:r>
          </a:p>
        </p:txBody>
      </p:sp>
      <p:sp>
        <p:nvSpPr>
          <p:cNvPr id="15" name="TextBox 14"/>
          <p:cNvSpPr txBox="1"/>
          <p:nvPr/>
        </p:nvSpPr>
        <p:spPr>
          <a:xfrm>
            <a:off x="731520" y="6265545"/>
            <a:ext cx="7142480" cy="337185"/>
          </a:xfrm>
          <a:prstGeom prst="rect">
            <a:avLst/>
          </a:prstGeom>
          <a:noFill/>
        </p:spPr>
        <p:txBody>
          <a:bodyPr wrap="none">
            <a:spAutoFit/>
          </a:bodyPr>
          <a:lstStyle/>
          <a:p>
            <a:pPr>
              <a:defRPr sz="1600" i="1">
                <a:solidFill>
                  <a:srgbClr val="888888"/>
                </a:solidFill>
                <a:latin typeface="微软雅黑"/>
              </a:defRPr>
            </a:pPr>
            <a:r>
              <a:rPr>
                <a:latin typeface="楷体" charset="0"/>
                <a:ea typeface="楷体" charset="0"/>
                <a:cs typeface="楷体" charset="0"/>
              </a:rPr>
              <a:t>💡 注意：</a:t>
            </a:r>
            <a:r>
              <a:rPr lang="zh-CN">
                <a:latin typeface="楷体" charset="0"/>
                <a:ea typeface="楷体" charset="0"/>
                <a:cs typeface="楷体" charset="0"/>
              </a:rPr>
              <a:t>“</a:t>
            </a:r>
            <a:r>
              <a:rPr>
                <a:latin typeface="楷体" charset="0"/>
                <a:ea typeface="楷体" charset="0"/>
                <a:cs typeface="楷体" charset="0"/>
              </a:rPr>
              <a:t>不仅</a:t>
            </a:r>
            <a:r>
              <a:rPr lang="zh-CN">
                <a:latin typeface="楷体" charset="0"/>
                <a:ea typeface="楷体" charset="0"/>
                <a:cs typeface="楷体" charset="0"/>
              </a:rPr>
              <a:t>”</a:t>
            </a:r>
            <a:r>
              <a:rPr>
                <a:latin typeface="楷体" charset="0"/>
                <a:ea typeface="楷体" charset="0"/>
                <a:cs typeface="楷体" charset="0"/>
              </a:rPr>
              <a:t>可以放在主语后，也可以放在主语前（前后主语不同时）。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84940-38C1-F50E-CBAC-2C6AE738C40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C7A3652-4B57-E4B8-4E43-42A0E26188C5}"/>
              </a:ext>
            </a:extLst>
          </p:cNvPr>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08C2CA27-94AE-FFF4-9DFD-61DA1431BD3D}"/>
              </a:ext>
            </a:extLst>
          </p:cNvPr>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293D5E1-C9F6-90EA-D970-FF3432B31F8A}"/>
              </a:ext>
            </a:extLst>
          </p:cNvPr>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2DC09771-10A6-7E08-C871-842D89E0043E}"/>
              </a:ext>
            </a:extLst>
          </p:cNvPr>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语法点（二）</a:t>
            </a:r>
          </a:p>
        </p:txBody>
      </p:sp>
      <p:sp>
        <p:nvSpPr>
          <p:cNvPr id="6" name="Rounded Rectangle 5">
            <a:extLst>
              <a:ext uri="{FF2B5EF4-FFF2-40B4-BE49-F238E27FC236}">
                <a16:creationId xmlns:a16="http://schemas.microsoft.com/office/drawing/2014/main" id="{6A10F0B0-DEFD-5474-ED2A-B9F51A66D4A0}"/>
              </a:ext>
            </a:extLst>
          </p:cNvPr>
          <p:cNvSpPr/>
          <p:nvPr/>
        </p:nvSpPr>
        <p:spPr>
          <a:xfrm>
            <a:off x="548640" y="1371600"/>
            <a:ext cx="10972800" cy="822960"/>
          </a:xfrm>
          <a:prstGeom prst="roundRect">
            <a:avLst/>
          </a:prstGeom>
          <a:solidFill>
            <a:srgbClr val="FFF3E0"/>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23F182D-6332-CE5D-4C2A-C92F1006F7BF}"/>
              </a:ext>
            </a:extLst>
          </p:cNvPr>
          <p:cNvSpPr txBox="1"/>
          <p:nvPr/>
        </p:nvSpPr>
        <p:spPr>
          <a:xfrm>
            <a:off x="4010025" y="1508760"/>
            <a:ext cx="4050030" cy="583565"/>
          </a:xfrm>
          <a:prstGeom prst="rect">
            <a:avLst/>
          </a:prstGeom>
          <a:noFill/>
        </p:spPr>
        <p:txBody>
          <a:bodyPr wrap="none">
            <a:spAutoFit/>
          </a:bodyPr>
          <a:lstStyle/>
          <a:p>
            <a:pPr algn="ctr">
              <a:defRPr sz="2800" b="1">
                <a:solidFill>
                  <a:srgbClr val="FF6B35"/>
                </a:solidFill>
                <a:latin typeface="微软雅黑"/>
              </a:defRPr>
            </a:pPr>
            <a:r>
              <a:rPr sz="3200">
                <a:latin typeface="楷体" charset="0"/>
                <a:ea typeface="楷体" charset="0"/>
                <a:cs typeface="楷体" charset="0"/>
              </a:rPr>
              <a:t>不仅……还/而且……</a:t>
            </a:r>
          </a:p>
        </p:txBody>
      </p:sp>
      <p:sp>
        <p:nvSpPr>
          <p:cNvPr id="8" name="TextBox 7">
            <a:extLst>
              <a:ext uri="{FF2B5EF4-FFF2-40B4-BE49-F238E27FC236}">
                <a16:creationId xmlns:a16="http://schemas.microsoft.com/office/drawing/2014/main" id="{CFF82930-0AA4-7B8B-CA4F-EC6E9222B653}"/>
              </a:ext>
            </a:extLst>
          </p:cNvPr>
          <p:cNvSpPr txBox="1"/>
          <p:nvPr/>
        </p:nvSpPr>
        <p:spPr>
          <a:xfrm>
            <a:off x="731520" y="2642235"/>
            <a:ext cx="10515600" cy="521970"/>
          </a:xfrm>
          <a:prstGeom prst="rect">
            <a:avLst/>
          </a:prstGeom>
          <a:noFill/>
        </p:spPr>
        <p:txBody>
          <a:bodyPr wrap="square">
            <a:spAutoFit/>
          </a:bodyPr>
          <a:lstStyle/>
          <a:p>
            <a:pPr>
              <a:lnSpc>
                <a:spcPct val="140000"/>
              </a:lnSpc>
              <a:defRPr sz="2000">
                <a:solidFill>
                  <a:srgbClr val="2D2D2D"/>
                </a:solidFill>
                <a:latin typeface="微软雅黑"/>
              </a:defRPr>
            </a:pPr>
            <a:r>
              <a:rPr dirty="0" err="1">
                <a:latin typeface="楷体" charset="0"/>
                <a:ea typeface="楷体" charset="0"/>
                <a:cs typeface="楷体" charset="0"/>
              </a:rPr>
              <a:t>用法：表示递进关系，后一部分在程度、范围上比前一部分更进一步</a:t>
            </a:r>
            <a:r>
              <a:rPr dirty="0">
                <a:latin typeface="楷体" charset="0"/>
                <a:ea typeface="楷体" charset="0"/>
                <a:cs typeface="楷体" charset="0"/>
              </a:rPr>
              <a:t>。</a:t>
            </a:r>
            <a:endParaRPr dirty="0">
              <a:latin typeface="字由点字青花楷" charset="0"/>
            </a:endParaRPr>
          </a:p>
        </p:txBody>
      </p:sp>
      <p:sp>
        <p:nvSpPr>
          <p:cNvPr id="9" name="Rounded Rectangle 8">
            <a:extLst>
              <a:ext uri="{FF2B5EF4-FFF2-40B4-BE49-F238E27FC236}">
                <a16:creationId xmlns:a16="http://schemas.microsoft.com/office/drawing/2014/main" id="{8D06C8AF-9F5D-7DA2-2942-85386E66D621}"/>
              </a:ext>
            </a:extLst>
          </p:cNvPr>
          <p:cNvSpPr/>
          <p:nvPr/>
        </p:nvSpPr>
        <p:spPr>
          <a:xfrm>
            <a:off x="731520" y="34747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334356B6-D4A8-6058-4603-3879BD48D015}"/>
              </a:ext>
            </a:extLst>
          </p:cNvPr>
          <p:cNvSpPr txBox="1"/>
          <p:nvPr/>
        </p:nvSpPr>
        <p:spPr>
          <a:xfrm>
            <a:off x="914400" y="3611880"/>
            <a:ext cx="10828605" cy="400110"/>
          </a:xfrm>
          <a:prstGeom prst="rect">
            <a:avLst/>
          </a:prstGeom>
          <a:noFill/>
        </p:spPr>
        <p:txBody>
          <a:bodyPr wrap="none">
            <a:spAutoFit/>
          </a:bodyPr>
          <a:lstStyle/>
          <a:p>
            <a:pPr algn="l">
              <a:buClrTx/>
              <a:buSzTx/>
              <a:buFontTx/>
              <a:defRPr sz="1800">
                <a:solidFill>
                  <a:srgbClr val="2D2D2D"/>
                </a:solidFill>
                <a:latin typeface="微软雅黑"/>
              </a:defRPr>
            </a:pPr>
            <a:r>
              <a:rPr lang="zh-CN" altLang="en-US" sz="2000" dirty="0">
                <a:latin typeface="FZKTPY01" panose="02000500000000000000" pitchFamily="2" charset="-122"/>
                <a:ea typeface="FZKTPY01" panose="02000500000000000000" pitchFamily="2" charset="-122"/>
                <a:cs typeface="楷体" charset="0"/>
              </a:rPr>
              <a:t>退还押金  退款  购物平台  申请仅退款；退货退款；七天无理由退货  氛围灯 讹人 碰瓷</a:t>
            </a:r>
            <a:endParaRPr sz="2000" dirty="0">
              <a:latin typeface="FZKTPY01" panose="02000500000000000000" pitchFamily="2" charset="-122"/>
              <a:ea typeface="FZKTPY01" panose="02000500000000000000" pitchFamily="2" charset="-122"/>
              <a:cs typeface="楷体" charset="0"/>
            </a:endParaRPr>
          </a:p>
        </p:txBody>
      </p:sp>
      <p:sp>
        <p:nvSpPr>
          <p:cNvPr id="11" name="Rounded Rectangle 10">
            <a:extLst>
              <a:ext uri="{FF2B5EF4-FFF2-40B4-BE49-F238E27FC236}">
                <a16:creationId xmlns:a16="http://schemas.microsoft.com/office/drawing/2014/main" id="{04F49F80-4F2C-34B2-967A-191AB02E17EA}"/>
              </a:ext>
            </a:extLst>
          </p:cNvPr>
          <p:cNvSpPr/>
          <p:nvPr/>
        </p:nvSpPr>
        <p:spPr>
          <a:xfrm>
            <a:off x="731520" y="43891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C5B1621A-C141-9130-88F4-42ECDF028E4C}"/>
              </a:ext>
            </a:extLst>
          </p:cNvPr>
          <p:cNvSpPr txBox="1"/>
          <p:nvPr/>
        </p:nvSpPr>
        <p:spPr>
          <a:xfrm>
            <a:off x="914400" y="4526280"/>
            <a:ext cx="10546080" cy="400110"/>
          </a:xfrm>
          <a:prstGeom prst="rect">
            <a:avLst/>
          </a:prstGeom>
          <a:noFill/>
        </p:spPr>
        <p:txBody>
          <a:bodyPr wrap="square">
            <a:spAutoFit/>
          </a:bodyPr>
          <a:lstStyle/>
          <a:p>
            <a:pPr algn="l">
              <a:buClrTx/>
              <a:buSzTx/>
              <a:buFontTx/>
              <a:defRPr sz="1800">
                <a:solidFill>
                  <a:srgbClr val="2D2D2D"/>
                </a:solidFill>
                <a:latin typeface="微软雅黑"/>
              </a:defRPr>
            </a:pPr>
            <a:r>
              <a:rPr lang="zh-CN" altLang="en-US" sz="2000" dirty="0">
                <a:latin typeface="FZKTPY01" panose="02000500000000000000" pitchFamily="2" charset="-122"/>
                <a:ea typeface="FZKTPY01" panose="02000500000000000000" pitchFamily="2" charset="-122"/>
                <a:cs typeface="楷体" charset="0"/>
              </a:rPr>
              <a:t>二战后，日本没有赔偿中国。</a:t>
            </a:r>
            <a:r>
              <a:rPr lang="en-US" altLang="zh-CN" sz="2000" dirty="0">
                <a:latin typeface="FZKTPY01" panose="02000500000000000000" pitchFamily="2" charset="-122"/>
                <a:ea typeface="FZKTPY01" panose="02000500000000000000" pitchFamily="2" charset="-122"/>
                <a:cs typeface="楷体" charset="0"/>
              </a:rPr>
              <a:t>1.</a:t>
            </a:r>
            <a:r>
              <a:rPr lang="zh-CN" altLang="en-US" sz="2000" dirty="0">
                <a:latin typeface="FZKTPY01" panose="02000500000000000000" pitchFamily="2" charset="-122"/>
                <a:ea typeface="FZKTPY01" panose="02000500000000000000" pitchFamily="2" charset="-122"/>
                <a:cs typeface="楷体" charset="0"/>
              </a:rPr>
              <a:t> 打牌</a:t>
            </a:r>
            <a:r>
              <a:rPr lang="en-US" altLang="zh-CN" sz="2000" dirty="0">
                <a:latin typeface="FZKTPY01" panose="02000500000000000000" pitchFamily="2" charset="-122"/>
                <a:ea typeface="FZKTPY01" panose="02000500000000000000" pitchFamily="2" charset="-122"/>
                <a:cs typeface="楷体" charset="0"/>
              </a:rPr>
              <a:t>/</a:t>
            </a:r>
            <a:r>
              <a:rPr lang="zh-CN" altLang="en-US" sz="2000" dirty="0">
                <a:latin typeface="FZKTPY01" panose="02000500000000000000" pitchFamily="2" charset="-122"/>
                <a:ea typeface="FZKTPY01" panose="02000500000000000000" pitchFamily="2" charset="-122"/>
                <a:cs typeface="楷体" charset="0"/>
              </a:rPr>
              <a:t>赌博输了多少钱 </a:t>
            </a:r>
            <a:r>
              <a:rPr lang="en-US" altLang="zh-CN" sz="2000" dirty="0">
                <a:latin typeface="FZKTPY01" panose="02000500000000000000" pitchFamily="2" charset="-122"/>
                <a:ea typeface="FZKTPY01" panose="02000500000000000000" pitchFamily="2" charset="-122"/>
                <a:cs typeface="楷体" charset="0"/>
              </a:rPr>
              <a:t>2.</a:t>
            </a:r>
            <a:r>
              <a:rPr lang="zh-CN" altLang="en-US" sz="2000" dirty="0">
                <a:latin typeface="FZKTPY01" panose="02000500000000000000" pitchFamily="2" charset="-122"/>
                <a:ea typeface="FZKTPY01" panose="02000500000000000000" pitchFamily="2" charset="-122"/>
                <a:cs typeface="楷体" charset="0"/>
              </a:rPr>
              <a:t> 归还</a:t>
            </a:r>
            <a:r>
              <a:rPr lang="en-US" altLang="zh-CN" sz="2000" dirty="0">
                <a:latin typeface="FZKTPY01" panose="02000500000000000000" pitchFamily="2" charset="-122"/>
                <a:ea typeface="FZKTPY01" panose="02000500000000000000" pitchFamily="2" charset="-122"/>
                <a:cs typeface="楷体" charset="0"/>
              </a:rPr>
              <a:t>/</a:t>
            </a:r>
            <a:r>
              <a:rPr lang="zh-CN" altLang="en-US" sz="2000" dirty="0">
                <a:latin typeface="FZKTPY01" panose="02000500000000000000" pitchFamily="2" charset="-122"/>
                <a:ea typeface="FZKTPY01" panose="02000500000000000000" pitchFamily="2" charset="-122"/>
                <a:cs typeface="楷体" charset="0"/>
              </a:rPr>
              <a:t>还利息，本金 </a:t>
            </a:r>
            <a:r>
              <a:rPr lang="en-US" altLang="zh-CN" sz="2000" dirty="0">
                <a:latin typeface="FZKTPY01" panose="02000500000000000000" pitchFamily="2" charset="-122"/>
                <a:ea typeface="FZKTPY01" panose="02000500000000000000" pitchFamily="2" charset="-122"/>
                <a:cs typeface="楷体" charset="0"/>
              </a:rPr>
              <a:t>3.</a:t>
            </a:r>
            <a:r>
              <a:rPr lang="zh-CN" altLang="en-US" sz="2000" dirty="0">
                <a:latin typeface="FZKTPY01" panose="02000500000000000000" pitchFamily="2" charset="-122"/>
                <a:ea typeface="FZKTPY01" panose="02000500000000000000" pitchFamily="2" charset="-122"/>
                <a:cs typeface="楷体" charset="0"/>
              </a:rPr>
              <a:t> 犯错赔偿</a:t>
            </a:r>
            <a:endParaRPr sz="2000" dirty="0">
              <a:latin typeface="楷体" charset="0"/>
              <a:ea typeface="楷体" charset="0"/>
              <a:cs typeface="楷体" charset="0"/>
            </a:endParaRPr>
          </a:p>
        </p:txBody>
      </p:sp>
      <p:sp>
        <p:nvSpPr>
          <p:cNvPr id="13" name="Rounded Rectangle 12">
            <a:extLst>
              <a:ext uri="{FF2B5EF4-FFF2-40B4-BE49-F238E27FC236}">
                <a16:creationId xmlns:a16="http://schemas.microsoft.com/office/drawing/2014/main" id="{BDFB5B81-1C5F-FF22-88C7-07B4E36DA70C}"/>
              </a:ext>
            </a:extLst>
          </p:cNvPr>
          <p:cNvSpPr/>
          <p:nvPr/>
        </p:nvSpPr>
        <p:spPr>
          <a:xfrm>
            <a:off x="731520" y="53035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01DF2F3-7864-78D2-FBC1-1E2E148B019C}"/>
              </a:ext>
            </a:extLst>
          </p:cNvPr>
          <p:cNvSpPr txBox="1"/>
          <p:nvPr/>
        </p:nvSpPr>
        <p:spPr>
          <a:xfrm>
            <a:off x="914400" y="5440680"/>
            <a:ext cx="3775393" cy="400110"/>
          </a:xfrm>
          <a:prstGeom prst="rect">
            <a:avLst/>
          </a:prstGeom>
          <a:noFill/>
        </p:spPr>
        <p:txBody>
          <a:bodyPr wrap="none">
            <a:spAutoFit/>
          </a:bodyPr>
          <a:lstStyle/>
          <a:p>
            <a:pPr algn="l">
              <a:buClrTx/>
              <a:buSzTx/>
              <a:buFontTx/>
              <a:defRPr sz="1800">
                <a:solidFill>
                  <a:srgbClr val="2D2D2D"/>
                </a:solidFill>
                <a:latin typeface="微软雅黑"/>
              </a:defRPr>
            </a:pPr>
            <a:r>
              <a:rPr lang="zh-CN" altLang="en-US" sz="2000" dirty="0">
                <a:latin typeface="FZKTPY01" panose="02000500000000000000" pitchFamily="2" charset="-122"/>
                <a:ea typeface="FZKTPY01" panose="02000500000000000000" pitchFamily="2" charset="-122"/>
                <a:cs typeface="楷体" charset="0"/>
              </a:rPr>
              <a:t>权利</a:t>
            </a:r>
            <a:r>
              <a:rPr lang="en-US" altLang="zh-CN" sz="2000" dirty="0">
                <a:latin typeface="FZKTPY01" panose="02000500000000000000" pitchFamily="2" charset="-122"/>
                <a:ea typeface="FZKTPY01" panose="02000500000000000000" pitchFamily="2" charset="-122"/>
                <a:cs typeface="楷体" charset="0"/>
              </a:rPr>
              <a:t> Rights</a:t>
            </a:r>
            <a:r>
              <a:rPr lang="zh-CN" altLang="en-US" sz="2000" dirty="0">
                <a:latin typeface="FZKTPY01" panose="02000500000000000000" pitchFamily="2" charset="-122"/>
                <a:ea typeface="FZKTPY01" panose="02000500000000000000" pitchFamily="2" charset="-122"/>
                <a:cs typeface="楷体" charset="0"/>
              </a:rPr>
              <a:t> 利益  权力 </a:t>
            </a:r>
            <a:r>
              <a:rPr lang="en-US" altLang="zh-CN" sz="2000" dirty="0">
                <a:latin typeface="FZKTPY01" panose="02000500000000000000" pitchFamily="2" charset="-122"/>
                <a:ea typeface="FZKTPY01" panose="02000500000000000000" pitchFamily="2" charset="-122"/>
                <a:cs typeface="楷体" charset="0"/>
              </a:rPr>
              <a:t>Power</a:t>
            </a:r>
            <a:endParaRPr sz="2000" dirty="0">
              <a:latin typeface="FZKTPY01" panose="02000500000000000000" pitchFamily="2" charset="-122"/>
              <a:ea typeface="FZKTPY01" panose="02000500000000000000" pitchFamily="2" charset="-122"/>
              <a:cs typeface="楷体" charset="0"/>
            </a:endParaRPr>
          </a:p>
        </p:txBody>
      </p:sp>
      <p:sp>
        <p:nvSpPr>
          <p:cNvPr id="15" name="TextBox 14">
            <a:extLst>
              <a:ext uri="{FF2B5EF4-FFF2-40B4-BE49-F238E27FC236}">
                <a16:creationId xmlns:a16="http://schemas.microsoft.com/office/drawing/2014/main" id="{0CAF2374-006E-8F40-3B12-653DDA79B39F}"/>
              </a:ext>
            </a:extLst>
          </p:cNvPr>
          <p:cNvSpPr txBox="1"/>
          <p:nvPr/>
        </p:nvSpPr>
        <p:spPr>
          <a:xfrm>
            <a:off x="731520" y="6265545"/>
            <a:ext cx="7142480" cy="337185"/>
          </a:xfrm>
          <a:prstGeom prst="rect">
            <a:avLst/>
          </a:prstGeom>
          <a:noFill/>
        </p:spPr>
        <p:txBody>
          <a:bodyPr wrap="none">
            <a:spAutoFit/>
          </a:bodyPr>
          <a:lstStyle/>
          <a:p>
            <a:pPr>
              <a:defRPr sz="1600" i="1">
                <a:solidFill>
                  <a:srgbClr val="888888"/>
                </a:solidFill>
                <a:latin typeface="微软雅黑"/>
              </a:defRPr>
            </a:pPr>
            <a:r>
              <a:rPr>
                <a:latin typeface="楷体" charset="0"/>
                <a:ea typeface="楷体" charset="0"/>
                <a:cs typeface="楷体" charset="0"/>
              </a:rPr>
              <a:t>💡 注意：</a:t>
            </a:r>
            <a:r>
              <a:rPr lang="zh-CN">
                <a:latin typeface="楷体" charset="0"/>
                <a:ea typeface="楷体" charset="0"/>
                <a:cs typeface="楷体" charset="0"/>
              </a:rPr>
              <a:t>“</a:t>
            </a:r>
            <a:r>
              <a:rPr>
                <a:latin typeface="楷体" charset="0"/>
                <a:ea typeface="楷体" charset="0"/>
                <a:cs typeface="楷体" charset="0"/>
              </a:rPr>
              <a:t>不仅</a:t>
            </a:r>
            <a:r>
              <a:rPr lang="zh-CN">
                <a:latin typeface="楷体" charset="0"/>
                <a:ea typeface="楷体" charset="0"/>
                <a:cs typeface="楷体" charset="0"/>
              </a:rPr>
              <a:t>”</a:t>
            </a:r>
            <a:r>
              <a:rPr>
                <a:latin typeface="楷体" charset="0"/>
                <a:ea typeface="楷体" charset="0"/>
                <a:cs typeface="楷体" charset="0"/>
              </a:rPr>
              <a:t>可以放在主语后，也可以放在主语前（前后主语不同时）。</a:t>
            </a:r>
          </a:p>
        </p:txBody>
      </p:sp>
    </p:spTree>
    <p:extLst>
      <p:ext uri="{BB962C8B-B14F-4D97-AF65-F5344CB8AC3E}">
        <p14:creationId xmlns:p14="http://schemas.microsoft.com/office/powerpoint/2010/main" val="1507122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语法点（三）</a:t>
            </a:r>
          </a:p>
        </p:txBody>
      </p:sp>
      <p:sp>
        <p:nvSpPr>
          <p:cNvPr id="6" name="Rounded Rectangle 5"/>
          <p:cNvSpPr/>
          <p:nvPr/>
        </p:nvSpPr>
        <p:spPr>
          <a:xfrm>
            <a:off x="548640" y="1371600"/>
            <a:ext cx="10972800" cy="822960"/>
          </a:xfrm>
          <a:prstGeom prst="roundRect">
            <a:avLst/>
          </a:prstGeom>
          <a:solidFill>
            <a:srgbClr val="FFF3E0"/>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35065" y="1508760"/>
            <a:ext cx="9199955" cy="584775"/>
          </a:xfrm>
          <a:prstGeom prst="rect">
            <a:avLst/>
          </a:prstGeom>
          <a:noFill/>
        </p:spPr>
        <p:txBody>
          <a:bodyPr wrap="none">
            <a:spAutoFit/>
          </a:bodyPr>
          <a:lstStyle/>
          <a:p>
            <a:pPr algn="ctr">
              <a:defRPr sz="2800" b="1">
                <a:solidFill>
                  <a:srgbClr val="FF6B35"/>
                </a:solidFill>
                <a:latin typeface="微软雅黑"/>
              </a:defRPr>
            </a:pPr>
            <a:r>
              <a:rPr sz="3200" dirty="0" err="1">
                <a:latin typeface="FZKTPY01" panose="02000500000000000000" pitchFamily="2" charset="-122"/>
                <a:ea typeface="FZKTPY01" panose="02000500000000000000" pitchFamily="2" charset="-122"/>
                <a:cs typeface="楷体" charset="0"/>
              </a:rPr>
              <a:t>以</a:t>
            </a:r>
            <a:r>
              <a:rPr sz="3200" dirty="0">
                <a:latin typeface="FZKTPY01" panose="02000500000000000000" pitchFamily="2" charset="-122"/>
                <a:ea typeface="FZKTPY01" panose="02000500000000000000" pitchFamily="2" charset="-122"/>
                <a:cs typeface="楷体" charset="0"/>
              </a:rPr>
              <a:t>……</a:t>
            </a:r>
            <a:r>
              <a:rPr sz="3200" dirty="0" err="1">
                <a:latin typeface="FZKTPY01" panose="02000500000000000000" pitchFamily="2" charset="-122"/>
                <a:ea typeface="FZKTPY01" panose="02000500000000000000" pitchFamily="2" charset="-122"/>
                <a:cs typeface="楷体" charset="0"/>
              </a:rPr>
              <a:t>为由</a:t>
            </a:r>
            <a:r>
              <a:rPr sz="3200" dirty="0">
                <a:latin typeface="FZKTPY01" panose="02000500000000000000" pitchFamily="2" charset="-122"/>
                <a:ea typeface="FZKTPY01" panose="02000500000000000000" pitchFamily="2" charset="-122"/>
                <a:cs typeface="楷体" charset="0"/>
              </a:rPr>
              <a:t> / </a:t>
            </a:r>
            <a:r>
              <a:rPr sz="3200" dirty="0" err="1">
                <a:latin typeface="FZKTPY01" panose="02000500000000000000" pitchFamily="2" charset="-122"/>
                <a:ea typeface="FZKTPY01" panose="02000500000000000000" pitchFamily="2" charset="-122"/>
                <a:cs typeface="楷体" charset="0"/>
              </a:rPr>
              <a:t>以</a:t>
            </a:r>
            <a:r>
              <a:rPr sz="3200" dirty="0">
                <a:latin typeface="FZKTPY01" panose="02000500000000000000" pitchFamily="2" charset="-122"/>
                <a:ea typeface="FZKTPY01" panose="02000500000000000000" pitchFamily="2" charset="-122"/>
                <a:cs typeface="楷体" charset="0"/>
              </a:rPr>
              <a:t>……</a:t>
            </a:r>
            <a:r>
              <a:rPr sz="3200" dirty="0" err="1">
                <a:latin typeface="FZKTPY01" panose="02000500000000000000" pitchFamily="2" charset="-122"/>
                <a:ea typeface="FZKTPY01" panose="02000500000000000000" pitchFamily="2" charset="-122"/>
                <a:cs typeface="楷体" charset="0"/>
              </a:rPr>
              <a:t>为名</a:t>
            </a:r>
            <a:r>
              <a:rPr sz="3200" dirty="0">
                <a:latin typeface="FZKTPY01" panose="02000500000000000000" pitchFamily="2" charset="-122"/>
                <a:ea typeface="FZKTPY01" panose="02000500000000000000" pitchFamily="2" charset="-122"/>
                <a:cs typeface="楷体" charset="0"/>
              </a:rPr>
              <a:t> （</a:t>
            </a:r>
            <a:r>
              <a:rPr sz="3200" dirty="0" err="1">
                <a:latin typeface="FZKTPY01" panose="02000500000000000000" pitchFamily="2" charset="-122"/>
                <a:ea typeface="FZKTPY01" panose="02000500000000000000" pitchFamily="2" charset="-122"/>
                <a:cs typeface="楷体" charset="0"/>
              </a:rPr>
              <a:t>以</a:t>
            </a:r>
            <a:r>
              <a:rPr sz="3200" dirty="0">
                <a:latin typeface="FZKTPY01" panose="02000500000000000000" pitchFamily="2" charset="-122"/>
                <a:ea typeface="FZKTPY01" panose="02000500000000000000" pitchFamily="2" charset="-122"/>
                <a:cs typeface="楷体" charset="0"/>
              </a:rPr>
              <a:t>...</a:t>
            </a:r>
            <a:r>
              <a:rPr sz="3200" dirty="0" err="1">
                <a:latin typeface="FZKTPY01" panose="02000500000000000000" pitchFamily="2" charset="-122"/>
                <a:ea typeface="FZKTPY01" panose="02000500000000000000" pitchFamily="2" charset="-122"/>
                <a:cs typeface="楷体" charset="0"/>
              </a:rPr>
              <a:t>为幌子</a:t>
            </a:r>
            <a:r>
              <a:rPr lang="en-US" sz="3200" dirty="0" err="1">
                <a:latin typeface="FZKTPY01" panose="02000500000000000000" pitchFamily="2" charset="-122"/>
                <a:ea typeface="FZKTPY01" panose="02000500000000000000" pitchFamily="2" charset="-122"/>
                <a:cs typeface="楷体" charset="0"/>
              </a:rPr>
              <a:t>flag</a:t>
            </a:r>
            <a:r>
              <a:rPr sz="3200" dirty="0">
                <a:latin typeface="FZKTPY01" panose="02000500000000000000" pitchFamily="2" charset="-122"/>
                <a:ea typeface="FZKTPY01" panose="02000500000000000000" pitchFamily="2" charset="-122"/>
                <a:cs typeface="楷体" charset="0"/>
              </a:rPr>
              <a:t>）</a:t>
            </a:r>
          </a:p>
        </p:txBody>
      </p:sp>
      <p:sp>
        <p:nvSpPr>
          <p:cNvPr id="8" name="TextBox 7"/>
          <p:cNvSpPr txBox="1"/>
          <p:nvPr/>
        </p:nvSpPr>
        <p:spPr>
          <a:xfrm>
            <a:off x="731520" y="2573655"/>
            <a:ext cx="10515600" cy="521970"/>
          </a:xfrm>
          <a:prstGeom prst="rect">
            <a:avLst/>
          </a:prstGeom>
          <a:noFill/>
        </p:spPr>
        <p:txBody>
          <a:bodyPr wrap="square">
            <a:spAutoFit/>
          </a:bodyPr>
          <a:lstStyle/>
          <a:p>
            <a:pPr>
              <a:lnSpc>
                <a:spcPct val="140000"/>
              </a:lnSpc>
              <a:defRPr sz="2000">
                <a:solidFill>
                  <a:srgbClr val="2D2D2D"/>
                </a:solidFill>
                <a:latin typeface="微软雅黑"/>
              </a:defRPr>
            </a:pPr>
            <a:r>
              <a:rPr>
                <a:latin typeface="楷体" charset="0"/>
                <a:ea typeface="楷体" charset="0"/>
                <a:cs typeface="楷体" charset="0"/>
              </a:rPr>
              <a:t>用法：表示用某种借口、名义做某事。常带有揭露虚假性质的意味。</a:t>
            </a:r>
          </a:p>
        </p:txBody>
      </p:sp>
      <p:sp>
        <p:nvSpPr>
          <p:cNvPr id="9" name="Rounded Rectangle 8"/>
          <p:cNvSpPr/>
          <p:nvPr/>
        </p:nvSpPr>
        <p:spPr>
          <a:xfrm>
            <a:off x="731520" y="34747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611880"/>
            <a:ext cx="6724918"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1. </a:t>
            </a:r>
            <a:r>
              <a:rPr sz="2000" dirty="0" err="1">
                <a:latin typeface="楷体" charset="0"/>
                <a:ea typeface="楷体" charset="0"/>
                <a:cs typeface="楷体" charset="0"/>
              </a:rPr>
              <a:t>健身房以"</a:t>
            </a:r>
            <a:r>
              <a:rPr sz="2000" dirty="0" err="1">
                <a:latin typeface="FZKTPY01" panose="02000500000000000000" pitchFamily="2" charset="-122"/>
                <a:ea typeface="FZKTPY01" panose="02000500000000000000" pitchFamily="2" charset="-122"/>
                <a:cs typeface="楷体" charset="0"/>
              </a:rPr>
              <a:t>装修</a:t>
            </a:r>
            <a:r>
              <a:rPr sz="2000" dirty="0" err="1">
                <a:latin typeface="楷体" charset="0"/>
                <a:ea typeface="楷体" charset="0"/>
                <a:cs typeface="楷体" charset="0"/>
              </a:rPr>
              <a:t>"为名一直闭店，其实老板已经跑路了</a:t>
            </a:r>
            <a:r>
              <a:rPr sz="2000" dirty="0">
                <a:latin typeface="楷体" charset="0"/>
                <a:ea typeface="楷体" charset="0"/>
                <a:cs typeface="楷体" charset="0"/>
              </a:rPr>
              <a:t>。</a:t>
            </a:r>
          </a:p>
        </p:txBody>
      </p:sp>
      <p:sp>
        <p:nvSpPr>
          <p:cNvPr id="11" name="Rounded Rectangle 10"/>
          <p:cNvSpPr/>
          <p:nvPr/>
        </p:nvSpPr>
        <p:spPr>
          <a:xfrm>
            <a:off x="731520" y="43891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526280"/>
            <a:ext cx="5442516"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2. </a:t>
            </a:r>
            <a:r>
              <a:rPr sz="2000" dirty="0" err="1">
                <a:latin typeface="楷体" charset="0"/>
                <a:ea typeface="楷体" charset="0"/>
                <a:cs typeface="楷体" charset="0"/>
              </a:rPr>
              <a:t>他以工作忙为由，拒绝了所有的</a:t>
            </a:r>
            <a:r>
              <a:rPr sz="2000" dirty="0" err="1">
                <a:latin typeface="FZKTPY01" panose="02000500000000000000" pitchFamily="2" charset="-122"/>
                <a:ea typeface="FZKTPY01" panose="02000500000000000000" pitchFamily="2" charset="-122"/>
                <a:cs typeface="楷体" charset="0"/>
              </a:rPr>
              <a:t>聚会邀请</a:t>
            </a:r>
            <a:r>
              <a:rPr sz="2000" dirty="0">
                <a:latin typeface="楷体" charset="0"/>
                <a:ea typeface="楷体" charset="0"/>
                <a:cs typeface="楷体" charset="0"/>
              </a:rPr>
              <a:t>。</a:t>
            </a:r>
          </a:p>
        </p:txBody>
      </p:sp>
      <p:sp>
        <p:nvSpPr>
          <p:cNvPr id="13" name="Rounded Rectangle 12"/>
          <p:cNvSpPr/>
          <p:nvPr/>
        </p:nvSpPr>
        <p:spPr>
          <a:xfrm>
            <a:off x="731520" y="53035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440680"/>
            <a:ext cx="8392041" cy="400110"/>
          </a:xfrm>
          <a:prstGeom prst="rect">
            <a:avLst/>
          </a:prstGeom>
          <a:noFill/>
        </p:spPr>
        <p:txBody>
          <a:bodyPr wrap="none">
            <a:spAutoFit/>
          </a:bodyPr>
          <a:lstStyle/>
          <a:p>
            <a:pPr>
              <a:defRPr sz="1800">
                <a:solidFill>
                  <a:srgbClr val="2D2D2D"/>
                </a:solidFill>
                <a:latin typeface="微软雅黑"/>
              </a:defRPr>
            </a:pPr>
            <a:r>
              <a:rPr lang="zh-CN" altLang="en-US" sz="2000" dirty="0">
                <a:latin typeface="FZKTPY01" panose="02000500000000000000" pitchFamily="2" charset="-122"/>
                <a:ea typeface="FZKTPY01" panose="02000500000000000000" pitchFamily="2" charset="-122"/>
                <a:cs typeface="楷体" charset="0"/>
              </a:rPr>
              <a:t>加密货币以经济自由为名，诱导很多人盲目把资金投到了高波动资产中。</a:t>
            </a:r>
            <a:endParaRPr sz="2000" dirty="0">
              <a:latin typeface="FZKTPY01" panose="02000500000000000000" pitchFamily="2" charset="-122"/>
              <a:ea typeface="FZKTPY01" panose="02000500000000000000" pitchFamily="2" charset="-122"/>
              <a:cs typeface="楷体" charset="0"/>
            </a:endParaRPr>
          </a:p>
        </p:txBody>
      </p:sp>
      <p:sp>
        <p:nvSpPr>
          <p:cNvPr id="15" name="TextBox 14"/>
          <p:cNvSpPr txBox="1"/>
          <p:nvPr/>
        </p:nvSpPr>
        <p:spPr>
          <a:xfrm>
            <a:off x="731520" y="6217920"/>
            <a:ext cx="7193280" cy="337185"/>
          </a:xfrm>
          <a:prstGeom prst="rect">
            <a:avLst/>
          </a:prstGeom>
          <a:noFill/>
        </p:spPr>
        <p:txBody>
          <a:bodyPr wrap="none">
            <a:spAutoFit/>
          </a:bodyPr>
          <a:lstStyle/>
          <a:p>
            <a:pPr>
              <a:defRPr sz="1600" i="1">
                <a:solidFill>
                  <a:srgbClr val="888888"/>
                </a:solidFill>
                <a:latin typeface="微软雅黑"/>
              </a:defRPr>
            </a:pPr>
            <a:r>
              <a:rPr dirty="0">
                <a:latin typeface="字由点字青花楷" charset="0"/>
              </a:rPr>
              <a:t>💡 </a:t>
            </a:r>
            <a:r>
              <a:rPr dirty="0" err="1">
                <a:latin typeface="楷体" charset="0"/>
                <a:ea typeface="楷体" charset="0"/>
                <a:cs typeface="楷体" charset="0"/>
              </a:rPr>
              <a:t>区别</a:t>
            </a:r>
            <a:r>
              <a:rPr dirty="0">
                <a:latin typeface="楷体" charset="0"/>
                <a:ea typeface="楷体" charset="0"/>
                <a:cs typeface="楷体" charset="0"/>
              </a:rPr>
              <a:t>：</a:t>
            </a:r>
            <a:r>
              <a:rPr lang="zh-CN" dirty="0">
                <a:latin typeface="楷体" charset="0"/>
                <a:ea typeface="楷体" charset="0"/>
                <a:cs typeface="楷体" charset="0"/>
              </a:rPr>
              <a:t>“</a:t>
            </a:r>
            <a:r>
              <a:rPr dirty="0" err="1">
                <a:latin typeface="楷体" charset="0"/>
                <a:ea typeface="楷体" charset="0"/>
                <a:cs typeface="楷体" charset="0"/>
              </a:rPr>
              <a:t>以</a:t>
            </a:r>
            <a:r>
              <a:rPr dirty="0">
                <a:latin typeface="楷体" charset="0"/>
                <a:ea typeface="楷体" charset="0"/>
                <a:cs typeface="楷体" charset="0"/>
              </a:rPr>
              <a:t>……</a:t>
            </a:r>
            <a:r>
              <a:rPr dirty="0" err="1">
                <a:latin typeface="楷体" charset="0"/>
                <a:ea typeface="楷体" charset="0"/>
                <a:cs typeface="楷体" charset="0"/>
              </a:rPr>
              <a:t>为由</a:t>
            </a:r>
            <a:r>
              <a:rPr lang="zh-CN" dirty="0">
                <a:latin typeface="楷体" charset="0"/>
                <a:ea typeface="楷体" charset="0"/>
                <a:cs typeface="楷体" charset="0"/>
              </a:rPr>
              <a:t>”</a:t>
            </a:r>
            <a:r>
              <a:rPr dirty="0" err="1">
                <a:latin typeface="楷体" charset="0"/>
                <a:ea typeface="楷体" charset="0"/>
                <a:cs typeface="楷体" charset="0"/>
              </a:rPr>
              <a:t>侧重借口</a:t>
            </a:r>
            <a:r>
              <a:rPr dirty="0">
                <a:latin typeface="楷体" charset="0"/>
                <a:ea typeface="楷体" charset="0"/>
                <a:cs typeface="楷体" charset="0"/>
              </a:rPr>
              <a:t>，</a:t>
            </a:r>
            <a:r>
              <a:rPr lang="zh-CN" dirty="0">
                <a:latin typeface="楷体" charset="0"/>
                <a:ea typeface="楷体" charset="0"/>
                <a:cs typeface="楷体" charset="0"/>
              </a:rPr>
              <a:t>“</a:t>
            </a:r>
            <a:r>
              <a:rPr dirty="0" err="1">
                <a:latin typeface="楷体" charset="0"/>
                <a:ea typeface="楷体" charset="0"/>
                <a:cs typeface="楷体" charset="0"/>
              </a:rPr>
              <a:t>以</a:t>
            </a:r>
            <a:r>
              <a:rPr dirty="0">
                <a:latin typeface="楷体" charset="0"/>
                <a:ea typeface="楷体" charset="0"/>
                <a:cs typeface="楷体" charset="0"/>
              </a:rPr>
              <a:t>……</a:t>
            </a:r>
            <a:r>
              <a:rPr dirty="0" err="1">
                <a:latin typeface="楷体" charset="0"/>
                <a:ea typeface="楷体" charset="0"/>
                <a:cs typeface="楷体" charset="0"/>
              </a:rPr>
              <a:t>为名</a:t>
            </a:r>
            <a:r>
              <a:rPr lang="zh-CN" dirty="0">
                <a:latin typeface="楷体" charset="0"/>
                <a:ea typeface="楷体" charset="0"/>
                <a:cs typeface="楷体" charset="0"/>
              </a:rPr>
              <a:t>”</a:t>
            </a:r>
            <a:r>
              <a:rPr dirty="0" err="1">
                <a:latin typeface="楷体" charset="0"/>
                <a:ea typeface="楷体" charset="0"/>
                <a:cs typeface="楷体" charset="0"/>
              </a:rPr>
              <a:t>侧重名义，都常含贬义</a:t>
            </a:r>
            <a:r>
              <a:rPr dirty="0">
                <a:latin typeface="楷体" charset="0"/>
                <a:ea typeface="楷体" charset="0"/>
                <a:cs typeface="楷体"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A8391-D130-68E4-59FA-8C86F9DF7B0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46AE4F2-57D9-64F7-EB93-405A7DA0A582}"/>
              </a:ext>
            </a:extLst>
          </p:cNvPr>
          <p:cNvSpPr/>
          <p:nvPr/>
        </p:nvSpPr>
        <p:spPr>
          <a:xfrm>
            <a:off x="305"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CB3E9F44-25C1-E815-01C7-1FF216F51D0E}"/>
              </a:ext>
            </a:extLst>
          </p:cNvPr>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E6057140-2D76-6421-39A1-74FD7119E370}"/>
              </a:ext>
            </a:extLst>
          </p:cNvPr>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A2A8E52C-BC5D-E624-5909-FE4AF5AE5966}"/>
              </a:ext>
            </a:extLst>
          </p:cNvPr>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语法点（三）</a:t>
            </a:r>
          </a:p>
        </p:txBody>
      </p:sp>
      <p:sp>
        <p:nvSpPr>
          <p:cNvPr id="6" name="Rounded Rectangle 5">
            <a:extLst>
              <a:ext uri="{FF2B5EF4-FFF2-40B4-BE49-F238E27FC236}">
                <a16:creationId xmlns:a16="http://schemas.microsoft.com/office/drawing/2014/main" id="{24251BB9-30BD-EB08-7F00-DCEAE2185911}"/>
              </a:ext>
            </a:extLst>
          </p:cNvPr>
          <p:cNvSpPr/>
          <p:nvPr/>
        </p:nvSpPr>
        <p:spPr>
          <a:xfrm>
            <a:off x="548640" y="1371600"/>
            <a:ext cx="10972800" cy="822960"/>
          </a:xfrm>
          <a:prstGeom prst="roundRect">
            <a:avLst/>
          </a:prstGeom>
          <a:solidFill>
            <a:srgbClr val="FFF3E0"/>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7A5B8266-2324-B6D4-A498-76BE5BFF701E}"/>
              </a:ext>
            </a:extLst>
          </p:cNvPr>
          <p:cNvSpPr txBox="1"/>
          <p:nvPr/>
        </p:nvSpPr>
        <p:spPr>
          <a:xfrm>
            <a:off x="1435065" y="1508760"/>
            <a:ext cx="9199955" cy="584775"/>
          </a:xfrm>
          <a:prstGeom prst="rect">
            <a:avLst/>
          </a:prstGeom>
          <a:noFill/>
        </p:spPr>
        <p:txBody>
          <a:bodyPr wrap="none">
            <a:spAutoFit/>
          </a:bodyPr>
          <a:lstStyle/>
          <a:p>
            <a:pPr algn="ctr">
              <a:defRPr sz="2800" b="1">
                <a:solidFill>
                  <a:srgbClr val="FF6B35"/>
                </a:solidFill>
                <a:latin typeface="微软雅黑"/>
              </a:defRPr>
            </a:pPr>
            <a:r>
              <a:rPr sz="3200" dirty="0" err="1">
                <a:latin typeface="FZKTPY01" panose="02000500000000000000" pitchFamily="2" charset="-122"/>
                <a:ea typeface="FZKTPY01" panose="02000500000000000000" pitchFamily="2" charset="-122"/>
                <a:cs typeface="楷体" charset="0"/>
              </a:rPr>
              <a:t>以</a:t>
            </a:r>
            <a:r>
              <a:rPr sz="3200" dirty="0">
                <a:latin typeface="FZKTPY01" panose="02000500000000000000" pitchFamily="2" charset="-122"/>
                <a:ea typeface="FZKTPY01" panose="02000500000000000000" pitchFamily="2" charset="-122"/>
                <a:cs typeface="楷体" charset="0"/>
              </a:rPr>
              <a:t>……</a:t>
            </a:r>
            <a:r>
              <a:rPr sz="3200" dirty="0" err="1">
                <a:latin typeface="FZKTPY01" panose="02000500000000000000" pitchFamily="2" charset="-122"/>
                <a:ea typeface="FZKTPY01" panose="02000500000000000000" pitchFamily="2" charset="-122"/>
                <a:cs typeface="楷体" charset="0"/>
              </a:rPr>
              <a:t>为由</a:t>
            </a:r>
            <a:r>
              <a:rPr sz="3200" dirty="0">
                <a:latin typeface="FZKTPY01" panose="02000500000000000000" pitchFamily="2" charset="-122"/>
                <a:ea typeface="FZKTPY01" panose="02000500000000000000" pitchFamily="2" charset="-122"/>
                <a:cs typeface="楷体" charset="0"/>
              </a:rPr>
              <a:t> / </a:t>
            </a:r>
            <a:r>
              <a:rPr sz="3200" dirty="0" err="1">
                <a:latin typeface="FZKTPY01" panose="02000500000000000000" pitchFamily="2" charset="-122"/>
                <a:ea typeface="FZKTPY01" panose="02000500000000000000" pitchFamily="2" charset="-122"/>
                <a:cs typeface="楷体" charset="0"/>
              </a:rPr>
              <a:t>以</a:t>
            </a:r>
            <a:r>
              <a:rPr sz="3200" dirty="0">
                <a:latin typeface="FZKTPY01" panose="02000500000000000000" pitchFamily="2" charset="-122"/>
                <a:ea typeface="FZKTPY01" panose="02000500000000000000" pitchFamily="2" charset="-122"/>
                <a:cs typeface="楷体" charset="0"/>
              </a:rPr>
              <a:t>……</a:t>
            </a:r>
            <a:r>
              <a:rPr sz="3200" dirty="0" err="1">
                <a:latin typeface="FZKTPY01" panose="02000500000000000000" pitchFamily="2" charset="-122"/>
                <a:ea typeface="FZKTPY01" panose="02000500000000000000" pitchFamily="2" charset="-122"/>
                <a:cs typeface="楷体" charset="0"/>
              </a:rPr>
              <a:t>为名</a:t>
            </a:r>
            <a:r>
              <a:rPr sz="3200" dirty="0">
                <a:latin typeface="FZKTPY01" panose="02000500000000000000" pitchFamily="2" charset="-122"/>
                <a:ea typeface="FZKTPY01" panose="02000500000000000000" pitchFamily="2" charset="-122"/>
                <a:cs typeface="楷体" charset="0"/>
              </a:rPr>
              <a:t> （</a:t>
            </a:r>
            <a:r>
              <a:rPr sz="3200" dirty="0" err="1">
                <a:latin typeface="FZKTPY01" panose="02000500000000000000" pitchFamily="2" charset="-122"/>
                <a:ea typeface="FZKTPY01" panose="02000500000000000000" pitchFamily="2" charset="-122"/>
                <a:cs typeface="楷体" charset="0"/>
              </a:rPr>
              <a:t>以</a:t>
            </a:r>
            <a:r>
              <a:rPr sz="3200" dirty="0">
                <a:latin typeface="FZKTPY01" panose="02000500000000000000" pitchFamily="2" charset="-122"/>
                <a:ea typeface="FZKTPY01" panose="02000500000000000000" pitchFamily="2" charset="-122"/>
                <a:cs typeface="楷体" charset="0"/>
              </a:rPr>
              <a:t>...</a:t>
            </a:r>
            <a:r>
              <a:rPr sz="3200" dirty="0" err="1">
                <a:latin typeface="FZKTPY01" panose="02000500000000000000" pitchFamily="2" charset="-122"/>
                <a:ea typeface="FZKTPY01" panose="02000500000000000000" pitchFamily="2" charset="-122"/>
                <a:cs typeface="楷体" charset="0"/>
              </a:rPr>
              <a:t>为幌子</a:t>
            </a:r>
            <a:r>
              <a:rPr lang="en-US" sz="3200" dirty="0" err="1">
                <a:latin typeface="FZKTPY01" panose="02000500000000000000" pitchFamily="2" charset="-122"/>
                <a:ea typeface="FZKTPY01" panose="02000500000000000000" pitchFamily="2" charset="-122"/>
                <a:cs typeface="楷体" charset="0"/>
              </a:rPr>
              <a:t>flag</a:t>
            </a:r>
            <a:r>
              <a:rPr sz="3200" dirty="0">
                <a:latin typeface="FZKTPY01" panose="02000500000000000000" pitchFamily="2" charset="-122"/>
                <a:ea typeface="FZKTPY01" panose="02000500000000000000" pitchFamily="2" charset="-122"/>
                <a:cs typeface="楷体" charset="0"/>
              </a:rPr>
              <a:t>）</a:t>
            </a:r>
          </a:p>
        </p:txBody>
      </p:sp>
      <p:sp>
        <p:nvSpPr>
          <p:cNvPr id="8" name="TextBox 7">
            <a:extLst>
              <a:ext uri="{FF2B5EF4-FFF2-40B4-BE49-F238E27FC236}">
                <a16:creationId xmlns:a16="http://schemas.microsoft.com/office/drawing/2014/main" id="{9BB96B54-7B38-667A-C381-F5BD7CFA4D8C}"/>
              </a:ext>
            </a:extLst>
          </p:cNvPr>
          <p:cNvSpPr txBox="1"/>
          <p:nvPr/>
        </p:nvSpPr>
        <p:spPr>
          <a:xfrm>
            <a:off x="731520" y="2573655"/>
            <a:ext cx="10515600" cy="521970"/>
          </a:xfrm>
          <a:prstGeom prst="rect">
            <a:avLst/>
          </a:prstGeom>
          <a:noFill/>
        </p:spPr>
        <p:txBody>
          <a:bodyPr wrap="square">
            <a:spAutoFit/>
          </a:bodyPr>
          <a:lstStyle/>
          <a:p>
            <a:pPr>
              <a:lnSpc>
                <a:spcPct val="140000"/>
              </a:lnSpc>
              <a:defRPr sz="2000">
                <a:solidFill>
                  <a:srgbClr val="2D2D2D"/>
                </a:solidFill>
                <a:latin typeface="微软雅黑"/>
              </a:defRPr>
            </a:pPr>
            <a:r>
              <a:rPr>
                <a:latin typeface="楷体" charset="0"/>
                <a:ea typeface="楷体" charset="0"/>
                <a:cs typeface="楷体" charset="0"/>
              </a:rPr>
              <a:t>用法：表示用某种借口、名义做某事。常带有揭露虚假性质的意味。</a:t>
            </a:r>
          </a:p>
        </p:txBody>
      </p:sp>
      <p:sp>
        <p:nvSpPr>
          <p:cNvPr id="9" name="Rounded Rectangle 8">
            <a:extLst>
              <a:ext uri="{FF2B5EF4-FFF2-40B4-BE49-F238E27FC236}">
                <a16:creationId xmlns:a16="http://schemas.microsoft.com/office/drawing/2014/main" id="{A3926823-7374-9F30-544A-D1A6726A1A53}"/>
              </a:ext>
            </a:extLst>
          </p:cNvPr>
          <p:cNvSpPr/>
          <p:nvPr/>
        </p:nvSpPr>
        <p:spPr>
          <a:xfrm>
            <a:off x="731520" y="34747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9B1CD13D-41ED-EF45-E666-3863E2BFBFED}"/>
              </a:ext>
            </a:extLst>
          </p:cNvPr>
          <p:cNvSpPr txBox="1"/>
          <p:nvPr/>
        </p:nvSpPr>
        <p:spPr>
          <a:xfrm>
            <a:off x="914400" y="3611880"/>
            <a:ext cx="6724918"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1. </a:t>
            </a:r>
            <a:r>
              <a:rPr sz="2000" dirty="0" err="1">
                <a:latin typeface="楷体" charset="0"/>
                <a:ea typeface="楷体" charset="0"/>
                <a:cs typeface="楷体" charset="0"/>
              </a:rPr>
              <a:t>健身房以"</a:t>
            </a:r>
            <a:r>
              <a:rPr sz="2000" dirty="0" err="1">
                <a:latin typeface="FZKTPY01" panose="02000500000000000000" pitchFamily="2" charset="-122"/>
                <a:ea typeface="FZKTPY01" panose="02000500000000000000" pitchFamily="2" charset="-122"/>
                <a:cs typeface="楷体" charset="0"/>
              </a:rPr>
              <a:t>装修</a:t>
            </a:r>
            <a:r>
              <a:rPr sz="2000" dirty="0" err="1">
                <a:latin typeface="楷体" charset="0"/>
                <a:ea typeface="楷体" charset="0"/>
                <a:cs typeface="楷体" charset="0"/>
              </a:rPr>
              <a:t>"为名一直闭店，其实老板已经跑路了</a:t>
            </a:r>
            <a:r>
              <a:rPr sz="2000" dirty="0">
                <a:latin typeface="楷体" charset="0"/>
                <a:ea typeface="楷体" charset="0"/>
                <a:cs typeface="楷体" charset="0"/>
              </a:rPr>
              <a:t>。</a:t>
            </a:r>
          </a:p>
        </p:txBody>
      </p:sp>
      <p:sp>
        <p:nvSpPr>
          <p:cNvPr id="11" name="Rounded Rectangle 10">
            <a:extLst>
              <a:ext uri="{FF2B5EF4-FFF2-40B4-BE49-F238E27FC236}">
                <a16:creationId xmlns:a16="http://schemas.microsoft.com/office/drawing/2014/main" id="{62EE143D-FF14-7D03-6687-F8EDED4F2AE7}"/>
              </a:ext>
            </a:extLst>
          </p:cNvPr>
          <p:cNvSpPr/>
          <p:nvPr/>
        </p:nvSpPr>
        <p:spPr>
          <a:xfrm>
            <a:off x="731520" y="43891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EF8C4209-17D4-7A25-4239-6A59E627916F}"/>
              </a:ext>
            </a:extLst>
          </p:cNvPr>
          <p:cNvSpPr txBox="1"/>
          <p:nvPr/>
        </p:nvSpPr>
        <p:spPr>
          <a:xfrm>
            <a:off x="914400" y="4526280"/>
            <a:ext cx="5442516"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2. </a:t>
            </a:r>
            <a:r>
              <a:rPr sz="2000" dirty="0" err="1">
                <a:latin typeface="楷体" charset="0"/>
                <a:ea typeface="楷体" charset="0"/>
                <a:cs typeface="楷体" charset="0"/>
              </a:rPr>
              <a:t>他以工作忙为由，拒绝了所有的</a:t>
            </a:r>
            <a:r>
              <a:rPr sz="2000" dirty="0" err="1">
                <a:latin typeface="FZKTPY01" panose="02000500000000000000" pitchFamily="2" charset="-122"/>
                <a:ea typeface="FZKTPY01" panose="02000500000000000000" pitchFamily="2" charset="-122"/>
                <a:cs typeface="楷体" charset="0"/>
              </a:rPr>
              <a:t>聚会邀请</a:t>
            </a:r>
            <a:r>
              <a:rPr sz="2000" dirty="0">
                <a:latin typeface="楷体" charset="0"/>
                <a:ea typeface="楷体" charset="0"/>
                <a:cs typeface="楷体" charset="0"/>
              </a:rPr>
              <a:t>。</a:t>
            </a:r>
          </a:p>
        </p:txBody>
      </p:sp>
      <p:sp>
        <p:nvSpPr>
          <p:cNvPr id="13" name="Rounded Rectangle 12">
            <a:extLst>
              <a:ext uri="{FF2B5EF4-FFF2-40B4-BE49-F238E27FC236}">
                <a16:creationId xmlns:a16="http://schemas.microsoft.com/office/drawing/2014/main" id="{930815D8-2E3F-07E8-CB17-76B2514A8961}"/>
              </a:ext>
            </a:extLst>
          </p:cNvPr>
          <p:cNvSpPr/>
          <p:nvPr/>
        </p:nvSpPr>
        <p:spPr>
          <a:xfrm>
            <a:off x="731520" y="53035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8C11F552-3EE3-395B-DAD5-ABE649027E40}"/>
              </a:ext>
            </a:extLst>
          </p:cNvPr>
          <p:cNvSpPr txBox="1"/>
          <p:nvPr/>
        </p:nvSpPr>
        <p:spPr>
          <a:xfrm>
            <a:off x="914400" y="5440680"/>
            <a:ext cx="7237879"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3. </a:t>
            </a:r>
            <a:r>
              <a:rPr sz="2000" dirty="0" err="1">
                <a:latin typeface="楷体" charset="0"/>
                <a:ea typeface="楷体" charset="0"/>
                <a:cs typeface="楷体" charset="0"/>
              </a:rPr>
              <a:t>有些商家以</a:t>
            </a:r>
            <a:r>
              <a:rPr lang="zh-CN" sz="2000" dirty="0">
                <a:latin typeface="楷体" charset="0"/>
                <a:ea typeface="楷体" charset="0"/>
                <a:cs typeface="楷体" charset="0"/>
              </a:rPr>
              <a:t>“</a:t>
            </a:r>
            <a:r>
              <a:rPr sz="2000" dirty="0" err="1">
                <a:latin typeface="FZKTPY01" panose="02000500000000000000" pitchFamily="2" charset="-122"/>
                <a:ea typeface="FZKTPY01" panose="02000500000000000000" pitchFamily="2" charset="-122"/>
                <a:cs typeface="楷体" charset="0"/>
              </a:rPr>
              <a:t>店庆优惠</a:t>
            </a:r>
            <a:r>
              <a:rPr lang="zh-CN" sz="2000" dirty="0">
                <a:latin typeface="楷体" charset="0"/>
                <a:ea typeface="楷体" charset="0"/>
                <a:cs typeface="楷体" charset="0"/>
              </a:rPr>
              <a:t>”</a:t>
            </a:r>
            <a:r>
              <a:rPr sz="2000" dirty="0" err="1">
                <a:latin typeface="楷体" charset="0"/>
                <a:ea typeface="楷体" charset="0"/>
                <a:cs typeface="楷体" charset="0"/>
              </a:rPr>
              <a:t>为名，</a:t>
            </a:r>
            <a:r>
              <a:rPr sz="2000" dirty="0" err="1">
                <a:latin typeface="FZKTPY01" panose="02000500000000000000" pitchFamily="2" charset="-122"/>
                <a:ea typeface="FZKTPY01" panose="02000500000000000000" pitchFamily="2" charset="-122"/>
                <a:cs typeface="楷体" charset="0"/>
              </a:rPr>
              <a:t>诱导</a:t>
            </a:r>
            <a:r>
              <a:rPr sz="2000" dirty="0" err="1">
                <a:latin typeface="楷体" charset="0"/>
                <a:ea typeface="楷体" charset="0"/>
                <a:cs typeface="楷体" charset="0"/>
              </a:rPr>
              <a:t>消费者</a:t>
            </a:r>
            <a:r>
              <a:rPr sz="2000" dirty="0" err="1">
                <a:latin typeface="FZKTPY01" panose="02000500000000000000" pitchFamily="2" charset="-122"/>
                <a:ea typeface="FZKTPY01" panose="02000500000000000000" pitchFamily="2" charset="-122"/>
                <a:cs typeface="楷体" charset="0"/>
              </a:rPr>
              <a:t>大额充值</a:t>
            </a:r>
            <a:r>
              <a:rPr sz="2000" dirty="0">
                <a:latin typeface="楷体" charset="0"/>
                <a:ea typeface="楷体" charset="0"/>
                <a:cs typeface="楷体" charset="0"/>
              </a:rPr>
              <a:t>。</a:t>
            </a:r>
            <a:r>
              <a:rPr lang="zh-CN" altLang="en-US" sz="2000" dirty="0">
                <a:latin typeface="FZKTPY01" panose="02000500000000000000" pitchFamily="2" charset="-122"/>
                <a:ea typeface="FZKTPY01" panose="02000500000000000000" pitchFamily="2" charset="-122"/>
                <a:cs typeface="楷体" charset="0"/>
              </a:rPr>
              <a:t>盲目</a:t>
            </a:r>
            <a:endParaRPr sz="2000" dirty="0">
              <a:latin typeface="FZKTPY01" panose="02000500000000000000" pitchFamily="2" charset="-122"/>
              <a:ea typeface="FZKTPY01" panose="02000500000000000000" pitchFamily="2" charset="-122"/>
              <a:cs typeface="楷体" charset="0"/>
            </a:endParaRPr>
          </a:p>
        </p:txBody>
      </p:sp>
      <p:sp>
        <p:nvSpPr>
          <p:cNvPr id="15" name="TextBox 14">
            <a:extLst>
              <a:ext uri="{FF2B5EF4-FFF2-40B4-BE49-F238E27FC236}">
                <a16:creationId xmlns:a16="http://schemas.microsoft.com/office/drawing/2014/main" id="{8211DBB7-5EE8-DEE6-728A-4F3FF4CD4359}"/>
              </a:ext>
            </a:extLst>
          </p:cNvPr>
          <p:cNvSpPr txBox="1"/>
          <p:nvPr/>
        </p:nvSpPr>
        <p:spPr>
          <a:xfrm>
            <a:off x="731520" y="6217920"/>
            <a:ext cx="7193280" cy="337185"/>
          </a:xfrm>
          <a:prstGeom prst="rect">
            <a:avLst/>
          </a:prstGeom>
          <a:noFill/>
        </p:spPr>
        <p:txBody>
          <a:bodyPr wrap="none">
            <a:spAutoFit/>
          </a:bodyPr>
          <a:lstStyle/>
          <a:p>
            <a:pPr>
              <a:defRPr sz="1600" i="1">
                <a:solidFill>
                  <a:srgbClr val="888888"/>
                </a:solidFill>
                <a:latin typeface="微软雅黑"/>
              </a:defRPr>
            </a:pPr>
            <a:r>
              <a:rPr dirty="0">
                <a:latin typeface="字由点字青花楷" charset="0"/>
              </a:rPr>
              <a:t>💡 </a:t>
            </a:r>
            <a:r>
              <a:rPr dirty="0" err="1">
                <a:latin typeface="楷体" charset="0"/>
                <a:ea typeface="楷体" charset="0"/>
                <a:cs typeface="楷体" charset="0"/>
              </a:rPr>
              <a:t>区别</a:t>
            </a:r>
            <a:r>
              <a:rPr dirty="0">
                <a:latin typeface="楷体" charset="0"/>
                <a:ea typeface="楷体" charset="0"/>
                <a:cs typeface="楷体" charset="0"/>
              </a:rPr>
              <a:t>：</a:t>
            </a:r>
            <a:r>
              <a:rPr lang="zh-CN" dirty="0">
                <a:latin typeface="楷体" charset="0"/>
                <a:ea typeface="楷体" charset="0"/>
                <a:cs typeface="楷体" charset="0"/>
              </a:rPr>
              <a:t>“</a:t>
            </a:r>
            <a:r>
              <a:rPr dirty="0" err="1">
                <a:latin typeface="楷体" charset="0"/>
                <a:ea typeface="楷体" charset="0"/>
                <a:cs typeface="楷体" charset="0"/>
              </a:rPr>
              <a:t>以</a:t>
            </a:r>
            <a:r>
              <a:rPr dirty="0">
                <a:latin typeface="楷体" charset="0"/>
                <a:ea typeface="楷体" charset="0"/>
                <a:cs typeface="楷体" charset="0"/>
              </a:rPr>
              <a:t>……</a:t>
            </a:r>
            <a:r>
              <a:rPr dirty="0" err="1">
                <a:latin typeface="楷体" charset="0"/>
                <a:ea typeface="楷体" charset="0"/>
                <a:cs typeface="楷体" charset="0"/>
              </a:rPr>
              <a:t>为由</a:t>
            </a:r>
            <a:r>
              <a:rPr lang="zh-CN" dirty="0">
                <a:latin typeface="楷体" charset="0"/>
                <a:ea typeface="楷体" charset="0"/>
                <a:cs typeface="楷体" charset="0"/>
              </a:rPr>
              <a:t>”</a:t>
            </a:r>
            <a:r>
              <a:rPr dirty="0" err="1">
                <a:latin typeface="楷体" charset="0"/>
                <a:ea typeface="楷体" charset="0"/>
                <a:cs typeface="楷体" charset="0"/>
              </a:rPr>
              <a:t>侧重借口</a:t>
            </a:r>
            <a:r>
              <a:rPr dirty="0">
                <a:latin typeface="楷体" charset="0"/>
                <a:ea typeface="楷体" charset="0"/>
                <a:cs typeface="楷体" charset="0"/>
              </a:rPr>
              <a:t>，</a:t>
            </a:r>
            <a:r>
              <a:rPr lang="zh-CN" dirty="0">
                <a:latin typeface="楷体" charset="0"/>
                <a:ea typeface="楷体" charset="0"/>
                <a:cs typeface="楷体" charset="0"/>
              </a:rPr>
              <a:t>“</a:t>
            </a:r>
            <a:r>
              <a:rPr dirty="0" err="1">
                <a:latin typeface="楷体" charset="0"/>
                <a:ea typeface="楷体" charset="0"/>
                <a:cs typeface="楷体" charset="0"/>
              </a:rPr>
              <a:t>以</a:t>
            </a:r>
            <a:r>
              <a:rPr dirty="0">
                <a:latin typeface="楷体" charset="0"/>
                <a:ea typeface="楷体" charset="0"/>
                <a:cs typeface="楷体" charset="0"/>
              </a:rPr>
              <a:t>……</a:t>
            </a:r>
            <a:r>
              <a:rPr dirty="0" err="1">
                <a:latin typeface="楷体" charset="0"/>
                <a:ea typeface="楷体" charset="0"/>
                <a:cs typeface="楷体" charset="0"/>
              </a:rPr>
              <a:t>为名</a:t>
            </a:r>
            <a:r>
              <a:rPr lang="zh-CN" dirty="0">
                <a:latin typeface="楷体" charset="0"/>
                <a:ea typeface="楷体" charset="0"/>
                <a:cs typeface="楷体" charset="0"/>
              </a:rPr>
              <a:t>”</a:t>
            </a:r>
            <a:r>
              <a:rPr dirty="0" err="1">
                <a:latin typeface="楷体" charset="0"/>
                <a:ea typeface="楷体" charset="0"/>
                <a:cs typeface="楷体" charset="0"/>
              </a:rPr>
              <a:t>侧重名义，都常含贬义</a:t>
            </a:r>
            <a:r>
              <a:rPr dirty="0">
                <a:latin typeface="楷体" charset="0"/>
                <a:ea typeface="楷体" charset="0"/>
                <a:cs typeface="楷体" charset="0"/>
              </a:rPr>
              <a:t>。</a:t>
            </a:r>
          </a:p>
        </p:txBody>
      </p:sp>
    </p:spTree>
    <p:extLst>
      <p:ext uri="{BB962C8B-B14F-4D97-AF65-F5344CB8AC3E}">
        <p14:creationId xmlns:p14="http://schemas.microsoft.com/office/powerpoint/2010/main" val="3329801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语法点（四）</a:t>
            </a:r>
          </a:p>
        </p:txBody>
      </p:sp>
      <p:sp>
        <p:nvSpPr>
          <p:cNvPr id="6" name="Rounded Rectangle 5"/>
          <p:cNvSpPr/>
          <p:nvPr/>
        </p:nvSpPr>
        <p:spPr>
          <a:xfrm>
            <a:off x="548640" y="1371600"/>
            <a:ext cx="10972800" cy="822960"/>
          </a:xfrm>
          <a:prstGeom prst="roundRect">
            <a:avLst/>
          </a:prstGeom>
          <a:solidFill>
            <a:srgbClr val="FFF3E0"/>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999341" y="1508760"/>
            <a:ext cx="2071401" cy="584775"/>
          </a:xfrm>
          <a:prstGeom prst="rect">
            <a:avLst/>
          </a:prstGeom>
          <a:noFill/>
        </p:spPr>
        <p:txBody>
          <a:bodyPr wrap="none">
            <a:spAutoFit/>
          </a:bodyPr>
          <a:lstStyle/>
          <a:p>
            <a:pPr algn="ctr">
              <a:buClrTx/>
              <a:buSzTx/>
              <a:buFontTx/>
              <a:defRPr sz="2800" b="1">
                <a:solidFill>
                  <a:srgbClr val="FF6B35"/>
                </a:solidFill>
                <a:latin typeface="微软雅黑"/>
              </a:defRPr>
            </a:pPr>
            <a:r>
              <a:rPr sz="3200" dirty="0" err="1">
                <a:latin typeface="FZKTPY01" panose="02000500000000000000" pitchFamily="2" charset="-122"/>
                <a:ea typeface="FZKTPY01" panose="02000500000000000000" pitchFamily="2" charset="-122"/>
                <a:cs typeface="楷体" charset="0"/>
              </a:rPr>
              <a:t>致使</a:t>
            </a:r>
            <a:r>
              <a:rPr lang="en-US" altLang="zh-CN" sz="3200" dirty="0">
                <a:latin typeface="FZKTPY01" panose="02000500000000000000" pitchFamily="2" charset="-122"/>
                <a:ea typeface="FZKTPY01" panose="02000500000000000000" pitchFamily="2" charset="-122"/>
                <a:cs typeface="楷体" charset="0"/>
              </a:rPr>
              <a:t>=</a:t>
            </a:r>
            <a:r>
              <a:rPr lang="zh-CN" altLang="en-US" sz="3200" dirty="0">
                <a:latin typeface="FZKTPY01" panose="02000500000000000000" pitchFamily="2" charset="-122"/>
                <a:ea typeface="FZKTPY01" panose="02000500000000000000" pitchFamily="2" charset="-122"/>
                <a:cs typeface="楷体" charset="0"/>
              </a:rPr>
              <a:t>导致</a:t>
            </a:r>
            <a:endParaRPr sz="3200" dirty="0">
              <a:latin typeface="FZKTPY01" panose="02000500000000000000" pitchFamily="2" charset="-122"/>
              <a:ea typeface="FZKTPY01" panose="02000500000000000000" pitchFamily="2" charset="-122"/>
              <a:cs typeface="楷体" charset="0"/>
            </a:endParaRPr>
          </a:p>
        </p:txBody>
      </p:sp>
      <p:sp>
        <p:nvSpPr>
          <p:cNvPr id="8" name="TextBox 7"/>
          <p:cNvSpPr txBox="1"/>
          <p:nvPr/>
        </p:nvSpPr>
        <p:spPr>
          <a:xfrm>
            <a:off x="731520" y="2573655"/>
            <a:ext cx="10515600" cy="521970"/>
          </a:xfrm>
          <a:prstGeom prst="rect">
            <a:avLst/>
          </a:prstGeom>
          <a:noFill/>
        </p:spPr>
        <p:txBody>
          <a:bodyPr wrap="square">
            <a:spAutoFit/>
          </a:bodyPr>
          <a:lstStyle/>
          <a:p>
            <a:pPr algn="l">
              <a:lnSpc>
                <a:spcPct val="140000"/>
              </a:lnSpc>
              <a:buClrTx/>
              <a:buSzTx/>
              <a:buFontTx/>
              <a:defRPr sz="2000">
                <a:solidFill>
                  <a:srgbClr val="2D2D2D"/>
                </a:solidFill>
                <a:latin typeface="微软雅黑"/>
              </a:defRPr>
            </a:pPr>
            <a:r>
              <a:rPr dirty="0" err="1">
                <a:latin typeface="楷体" charset="0"/>
                <a:ea typeface="楷体" charset="0"/>
                <a:cs typeface="楷体" charset="0"/>
              </a:rPr>
              <a:t>用法：表示由于某种原因而导致某种结果（多指不好的结果</a:t>
            </a:r>
            <a:r>
              <a:rPr dirty="0">
                <a:latin typeface="楷体" charset="0"/>
                <a:ea typeface="楷体" charset="0"/>
                <a:cs typeface="楷体" charset="0"/>
              </a:rPr>
              <a:t>）。</a:t>
            </a:r>
            <a:r>
              <a:rPr dirty="0" err="1">
                <a:latin typeface="楷体" charset="0"/>
                <a:ea typeface="楷体" charset="0"/>
                <a:cs typeface="楷体" charset="0"/>
              </a:rPr>
              <a:t>书面语色彩较浓</a:t>
            </a:r>
            <a:r>
              <a:rPr dirty="0">
                <a:latin typeface="楷体" charset="0"/>
                <a:ea typeface="楷体" charset="0"/>
                <a:cs typeface="楷体" charset="0"/>
              </a:rPr>
              <a:t>。</a:t>
            </a:r>
          </a:p>
        </p:txBody>
      </p:sp>
      <p:sp>
        <p:nvSpPr>
          <p:cNvPr id="9" name="Rounded Rectangle 8"/>
          <p:cNvSpPr/>
          <p:nvPr/>
        </p:nvSpPr>
        <p:spPr>
          <a:xfrm>
            <a:off x="731520" y="34747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611880"/>
            <a:ext cx="6724918"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1. </a:t>
            </a:r>
            <a:r>
              <a:rPr sz="2000" dirty="0" err="1">
                <a:latin typeface="楷体" charset="0"/>
                <a:ea typeface="楷体" charset="0"/>
                <a:cs typeface="楷体" charset="0"/>
              </a:rPr>
              <a:t>健身房</a:t>
            </a:r>
            <a:r>
              <a:rPr sz="2000" dirty="0" err="1">
                <a:latin typeface="FZKTPY01" panose="02000500000000000000" pitchFamily="2" charset="-122"/>
                <a:ea typeface="FZKTPY01" panose="02000500000000000000" pitchFamily="2" charset="-122"/>
                <a:cs typeface="楷体" charset="0"/>
              </a:rPr>
              <a:t>搬离原经营地</a:t>
            </a:r>
            <a:r>
              <a:rPr sz="2000" dirty="0" err="1">
                <a:latin typeface="楷体" charset="0"/>
                <a:ea typeface="楷体" charset="0"/>
                <a:cs typeface="楷体" charset="0"/>
              </a:rPr>
              <a:t>，致使会员无法继续使用服务</a:t>
            </a:r>
            <a:r>
              <a:rPr sz="2000" dirty="0">
                <a:latin typeface="楷体" charset="0"/>
                <a:ea typeface="楷体" charset="0"/>
                <a:cs typeface="楷体" charset="0"/>
              </a:rPr>
              <a:t>。</a:t>
            </a:r>
          </a:p>
        </p:txBody>
      </p:sp>
      <p:sp>
        <p:nvSpPr>
          <p:cNvPr id="11" name="Rounded Rectangle 10"/>
          <p:cNvSpPr/>
          <p:nvPr/>
        </p:nvSpPr>
        <p:spPr>
          <a:xfrm>
            <a:off x="731520" y="43891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526280"/>
            <a:ext cx="6853158"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2. </a:t>
            </a:r>
            <a:r>
              <a:rPr sz="2000" dirty="0" err="1">
                <a:latin typeface="楷体" charset="0"/>
                <a:ea typeface="楷体" charset="0"/>
                <a:cs typeface="楷体" charset="0"/>
              </a:rPr>
              <a:t>暴雨致使交通</a:t>
            </a:r>
            <a:r>
              <a:rPr sz="2000" dirty="0" err="1">
                <a:latin typeface="FZKTPY01" panose="02000500000000000000" pitchFamily="2" charset="-122"/>
                <a:ea typeface="FZKTPY01" panose="02000500000000000000" pitchFamily="2" charset="-122"/>
                <a:cs typeface="楷体" charset="0"/>
              </a:rPr>
              <a:t>瘫痪</a:t>
            </a:r>
            <a:r>
              <a:rPr lang="en-US" altLang="zh-CN" sz="2000" dirty="0">
                <a:latin typeface="FZKTPY01" panose="02000500000000000000" pitchFamily="2" charset="-122"/>
                <a:ea typeface="FZKTPY01" panose="02000500000000000000" pitchFamily="2" charset="-122"/>
                <a:cs typeface="楷体" charset="0"/>
              </a:rPr>
              <a:t>(paralyzed)</a:t>
            </a:r>
            <a:r>
              <a:rPr sz="2000" dirty="0">
                <a:latin typeface="楷体" charset="0"/>
                <a:ea typeface="楷体" charset="0"/>
                <a:cs typeface="楷体" charset="0"/>
              </a:rPr>
              <a:t>，</a:t>
            </a:r>
            <a:r>
              <a:rPr sz="2000" dirty="0" err="1">
                <a:latin typeface="楷体" charset="0"/>
                <a:ea typeface="楷体" charset="0"/>
                <a:cs typeface="楷体" charset="0"/>
              </a:rPr>
              <a:t>很多人无法按时上班</a:t>
            </a:r>
            <a:r>
              <a:rPr sz="2000" dirty="0">
                <a:latin typeface="楷体" charset="0"/>
                <a:ea typeface="楷体" charset="0"/>
                <a:cs typeface="楷体" charset="0"/>
              </a:rPr>
              <a:t>。</a:t>
            </a:r>
          </a:p>
        </p:txBody>
      </p:sp>
      <p:sp>
        <p:nvSpPr>
          <p:cNvPr id="13" name="Rounded Rectangle 12"/>
          <p:cNvSpPr/>
          <p:nvPr/>
        </p:nvSpPr>
        <p:spPr>
          <a:xfrm>
            <a:off x="731520" y="53035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440680"/>
            <a:ext cx="5247640" cy="398780"/>
          </a:xfrm>
          <a:prstGeom prst="rect">
            <a:avLst/>
          </a:prstGeom>
          <a:noFill/>
        </p:spPr>
        <p:txBody>
          <a:bodyPr wrap="none">
            <a:spAutoFit/>
          </a:bodyPr>
          <a:lstStyle/>
          <a:p>
            <a:pPr>
              <a:defRPr sz="1800">
                <a:solidFill>
                  <a:srgbClr val="2D2D2D"/>
                </a:solidFill>
                <a:latin typeface="微软雅黑"/>
              </a:defRPr>
            </a:pPr>
            <a:r>
              <a:rPr sz="2000">
                <a:latin typeface="楷体" charset="0"/>
                <a:ea typeface="楷体" charset="0"/>
                <a:cs typeface="楷体" charset="0"/>
              </a:rPr>
              <a:t>3. 经营者未依法清算，致使消费者损失扩大。</a:t>
            </a:r>
          </a:p>
        </p:txBody>
      </p:sp>
      <p:sp>
        <p:nvSpPr>
          <p:cNvPr id="15" name="TextBox 14"/>
          <p:cNvSpPr txBox="1"/>
          <p:nvPr/>
        </p:nvSpPr>
        <p:spPr>
          <a:xfrm>
            <a:off x="731520" y="6217920"/>
            <a:ext cx="6177280" cy="337185"/>
          </a:xfrm>
          <a:prstGeom prst="rect">
            <a:avLst/>
          </a:prstGeom>
          <a:noFill/>
        </p:spPr>
        <p:txBody>
          <a:bodyPr wrap="none">
            <a:spAutoFit/>
          </a:bodyPr>
          <a:lstStyle/>
          <a:p>
            <a:pPr algn="l">
              <a:buClrTx/>
              <a:buSzTx/>
              <a:buFontTx/>
              <a:defRPr sz="1600" i="1">
                <a:solidFill>
                  <a:srgbClr val="888888"/>
                </a:solidFill>
                <a:latin typeface="微软雅黑"/>
              </a:defRPr>
            </a:pPr>
            <a:r>
              <a:rPr>
                <a:latin typeface="字由点字青花楷" charset="0"/>
              </a:rPr>
              <a:t>💡 </a:t>
            </a:r>
            <a:r>
              <a:rPr>
                <a:latin typeface="楷体" charset="0"/>
                <a:ea typeface="楷体" charset="0"/>
                <a:cs typeface="楷体" charset="0"/>
              </a:rPr>
              <a:t>注意：</a:t>
            </a:r>
            <a:r>
              <a:rPr lang="zh-CN">
                <a:latin typeface="楷体" charset="0"/>
                <a:ea typeface="楷体" charset="0"/>
                <a:cs typeface="楷体" charset="0"/>
              </a:rPr>
              <a:t>“</a:t>
            </a:r>
            <a:r>
              <a:rPr>
                <a:latin typeface="楷体" charset="0"/>
                <a:ea typeface="楷体" charset="0"/>
                <a:cs typeface="楷体" charset="0"/>
              </a:rPr>
              <a:t>致使</a:t>
            </a:r>
            <a:r>
              <a:rPr lang="zh-CN">
                <a:latin typeface="楷体" charset="0"/>
                <a:ea typeface="楷体" charset="0"/>
                <a:cs typeface="楷体" charset="0"/>
              </a:rPr>
              <a:t>”</a:t>
            </a:r>
            <a:r>
              <a:rPr>
                <a:latin typeface="楷体" charset="0"/>
                <a:ea typeface="楷体" charset="0"/>
                <a:cs typeface="楷体" charset="0"/>
              </a:rPr>
              <a:t>后接不好的结果，主语可以是事件、行为或人。</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语法点（五）</a:t>
            </a:r>
          </a:p>
        </p:txBody>
      </p:sp>
      <p:sp>
        <p:nvSpPr>
          <p:cNvPr id="6" name="Rounded Rectangle 5"/>
          <p:cNvSpPr/>
          <p:nvPr/>
        </p:nvSpPr>
        <p:spPr>
          <a:xfrm>
            <a:off x="548640" y="1371600"/>
            <a:ext cx="10972800" cy="822960"/>
          </a:xfrm>
          <a:prstGeom prst="roundRect">
            <a:avLst/>
          </a:prstGeom>
          <a:solidFill>
            <a:srgbClr val="FFF3E0"/>
          </a:solidFill>
          <a:ln>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536565" y="1508760"/>
            <a:ext cx="996950" cy="583565"/>
          </a:xfrm>
          <a:prstGeom prst="rect">
            <a:avLst/>
          </a:prstGeom>
          <a:noFill/>
        </p:spPr>
        <p:txBody>
          <a:bodyPr wrap="none">
            <a:spAutoFit/>
          </a:bodyPr>
          <a:lstStyle/>
          <a:p>
            <a:pPr algn="ctr">
              <a:buClrTx/>
              <a:buSzTx/>
              <a:buFontTx/>
              <a:defRPr sz="2800" b="1">
                <a:solidFill>
                  <a:srgbClr val="FF6B35"/>
                </a:solidFill>
                <a:latin typeface="微软雅黑"/>
              </a:defRPr>
            </a:pPr>
            <a:r>
              <a:rPr sz="3200">
                <a:latin typeface="楷体" charset="0"/>
                <a:ea typeface="楷体" charset="0"/>
                <a:cs typeface="楷体" charset="0"/>
              </a:rPr>
              <a:t>鉴于</a:t>
            </a:r>
          </a:p>
        </p:txBody>
      </p:sp>
      <p:sp>
        <p:nvSpPr>
          <p:cNvPr id="8" name="TextBox 7"/>
          <p:cNvSpPr txBox="1"/>
          <p:nvPr/>
        </p:nvSpPr>
        <p:spPr>
          <a:xfrm>
            <a:off x="731520" y="2527935"/>
            <a:ext cx="10515600" cy="521970"/>
          </a:xfrm>
          <a:prstGeom prst="rect">
            <a:avLst/>
          </a:prstGeom>
          <a:noFill/>
        </p:spPr>
        <p:txBody>
          <a:bodyPr wrap="square">
            <a:spAutoFit/>
          </a:bodyPr>
          <a:lstStyle/>
          <a:p>
            <a:pPr>
              <a:lnSpc>
                <a:spcPct val="140000"/>
              </a:lnSpc>
              <a:defRPr sz="2000">
                <a:solidFill>
                  <a:srgbClr val="2D2D2D"/>
                </a:solidFill>
                <a:latin typeface="微软雅黑"/>
              </a:defRPr>
            </a:pPr>
            <a:r>
              <a:rPr dirty="0" err="1">
                <a:latin typeface="楷体" charset="0"/>
                <a:ea typeface="楷体" charset="0"/>
                <a:cs typeface="楷体" charset="0"/>
              </a:rPr>
              <a:t>用法：表示考虑到某种情况，多用于书面语。常出现在公文、法律文本中</a:t>
            </a:r>
            <a:r>
              <a:rPr dirty="0">
                <a:latin typeface="楷体" charset="0"/>
                <a:ea typeface="楷体" charset="0"/>
                <a:cs typeface="楷体" charset="0"/>
              </a:rPr>
              <a:t>。</a:t>
            </a:r>
          </a:p>
        </p:txBody>
      </p:sp>
      <p:sp>
        <p:nvSpPr>
          <p:cNvPr id="9" name="Rounded Rectangle 8"/>
          <p:cNvSpPr/>
          <p:nvPr/>
        </p:nvSpPr>
        <p:spPr>
          <a:xfrm>
            <a:off x="731520" y="34747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611880"/>
            <a:ext cx="7237879" cy="400110"/>
          </a:xfrm>
          <a:prstGeom prst="rect">
            <a:avLst/>
          </a:prstGeom>
          <a:noFill/>
        </p:spPr>
        <p:txBody>
          <a:bodyPr wrap="none">
            <a:spAutoFit/>
          </a:bodyPr>
          <a:lstStyle/>
          <a:p>
            <a:pPr>
              <a:defRPr sz="1800">
                <a:solidFill>
                  <a:srgbClr val="2D2D2D"/>
                </a:solidFill>
                <a:latin typeface="微软雅黑"/>
              </a:defRPr>
            </a:pPr>
            <a:r>
              <a:rPr sz="2000" dirty="0">
                <a:latin typeface="楷体" charset="0"/>
                <a:ea typeface="楷体" charset="0"/>
                <a:cs typeface="楷体" charset="0"/>
              </a:rPr>
              <a:t>1. </a:t>
            </a:r>
            <a:r>
              <a:rPr sz="2000" dirty="0" err="1">
                <a:latin typeface="楷体" charset="0"/>
                <a:ea typeface="楷体" charset="0"/>
                <a:cs typeface="楷体" charset="0"/>
              </a:rPr>
              <a:t>鉴于该健身房已停业且</a:t>
            </a:r>
            <a:r>
              <a:rPr sz="2000" dirty="0" err="1">
                <a:solidFill>
                  <a:srgbClr val="FF0000"/>
                </a:solidFill>
                <a:latin typeface="楷体" charset="0"/>
                <a:ea typeface="楷体" charset="0"/>
                <a:cs typeface="楷体" charset="0"/>
              </a:rPr>
              <a:t>资不抵债</a:t>
            </a:r>
            <a:r>
              <a:rPr sz="2000" dirty="0" err="1">
                <a:latin typeface="楷体" charset="0"/>
                <a:ea typeface="楷体" charset="0"/>
                <a:cs typeface="楷体" charset="0"/>
              </a:rPr>
              <a:t>，法院决定</a:t>
            </a:r>
            <a:r>
              <a:rPr sz="2000" dirty="0" err="1">
                <a:latin typeface="FZKTPY01" panose="02000500000000000000" pitchFamily="2" charset="-122"/>
                <a:ea typeface="FZKTPY01" panose="02000500000000000000" pitchFamily="2" charset="-122"/>
                <a:cs typeface="楷体" charset="0"/>
              </a:rPr>
              <a:t>受理</a:t>
            </a:r>
            <a:r>
              <a:rPr sz="2000" dirty="0" err="1">
                <a:latin typeface="楷体" charset="0"/>
                <a:ea typeface="楷体" charset="0"/>
                <a:cs typeface="楷体" charset="0"/>
              </a:rPr>
              <a:t>破产</a:t>
            </a:r>
            <a:r>
              <a:rPr sz="2000" dirty="0" err="1">
                <a:latin typeface="FZKTPY01" panose="02000500000000000000" pitchFamily="2" charset="-122"/>
                <a:ea typeface="FZKTPY01" panose="02000500000000000000" pitchFamily="2" charset="-122"/>
                <a:cs typeface="楷体" charset="0"/>
              </a:rPr>
              <a:t>申请</a:t>
            </a:r>
            <a:r>
              <a:rPr sz="2000" dirty="0">
                <a:latin typeface="楷体" charset="0"/>
                <a:ea typeface="楷体" charset="0"/>
                <a:cs typeface="楷体" charset="0"/>
              </a:rPr>
              <a:t>。</a:t>
            </a:r>
          </a:p>
        </p:txBody>
      </p:sp>
      <p:sp>
        <p:nvSpPr>
          <p:cNvPr id="11" name="Rounded Rectangle 10"/>
          <p:cNvSpPr/>
          <p:nvPr/>
        </p:nvSpPr>
        <p:spPr>
          <a:xfrm>
            <a:off x="731520" y="43891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526280"/>
            <a:ext cx="5247640" cy="398780"/>
          </a:xfrm>
          <a:prstGeom prst="rect">
            <a:avLst/>
          </a:prstGeom>
          <a:noFill/>
        </p:spPr>
        <p:txBody>
          <a:bodyPr wrap="none">
            <a:spAutoFit/>
          </a:bodyPr>
          <a:lstStyle/>
          <a:p>
            <a:pPr>
              <a:defRPr sz="1800">
                <a:solidFill>
                  <a:srgbClr val="2D2D2D"/>
                </a:solidFill>
                <a:latin typeface="微软雅黑"/>
              </a:defRPr>
            </a:pPr>
            <a:r>
              <a:rPr sz="2000">
                <a:latin typeface="楷体" charset="0"/>
                <a:ea typeface="楷体" charset="0"/>
                <a:cs typeface="楷体" charset="0"/>
              </a:rPr>
              <a:t>2. 鉴于目前的市场状况，投资者应保持谨慎。</a:t>
            </a:r>
          </a:p>
        </p:txBody>
      </p:sp>
      <p:sp>
        <p:nvSpPr>
          <p:cNvPr id="13" name="Rounded Rectangle 12"/>
          <p:cNvSpPr/>
          <p:nvPr/>
        </p:nvSpPr>
        <p:spPr>
          <a:xfrm>
            <a:off x="731520" y="5303520"/>
            <a:ext cx="10972800" cy="73152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440680"/>
            <a:ext cx="6263640" cy="398780"/>
          </a:xfrm>
          <a:prstGeom prst="rect">
            <a:avLst/>
          </a:prstGeom>
          <a:noFill/>
        </p:spPr>
        <p:txBody>
          <a:bodyPr wrap="none">
            <a:spAutoFit/>
          </a:bodyPr>
          <a:lstStyle/>
          <a:p>
            <a:pPr>
              <a:defRPr sz="1800">
                <a:solidFill>
                  <a:srgbClr val="2D2D2D"/>
                </a:solidFill>
                <a:latin typeface="微软雅黑"/>
              </a:defRPr>
            </a:pPr>
            <a:r>
              <a:rPr sz="2000">
                <a:latin typeface="楷体" charset="0"/>
                <a:ea typeface="楷体" charset="0"/>
                <a:cs typeface="楷体" charset="0"/>
              </a:rPr>
              <a:t>3. 鉴于商家存在欺诈行为，消费者有权要求三倍赔偿。</a:t>
            </a:r>
          </a:p>
        </p:txBody>
      </p:sp>
      <p:sp>
        <p:nvSpPr>
          <p:cNvPr id="15" name="TextBox 14"/>
          <p:cNvSpPr txBox="1"/>
          <p:nvPr/>
        </p:nvSpPr>
        <p:spPr>
          <a:xfrm>
            <a:off x="731520" y="6264910"/>
            <a:ext cx="6126480" cy="337185"/>
          </a:xfrm>
          <a:prstGeom prst="rect">
            <a:avLst/>
          </a:prstGeom>
          <a:noFill/>
        </p:spPr>
        <p:txBody>
          <a:bodyPr wrap="none">
            <a:spAutoFit/>
          </a:bodyPr>
          <a:lstStyle/>
          <a:p>
            <a:pPr>
              <a:defRPr sz="1600" i="1">
                <a:solidFill>
                  <a:srgbClr val="888888"/>
                </a:solidFill>
                <a:latin typeface="微软雅黑"/>
              </a:defRPr>
            </a:pPr>
            <a:r>
              <a:rPr>
                <a:latin typeface="楷体" charset="0"/>
                <a:ea typeface="楷体" charset="0"/>
                <a:cs typeface="楷体" charset="0"/>
              </a:rPr>
              <a:t>💡 注意：</a:t>
            </a:r>
            <a:r>
              <a:rPr lang="zh-CN">
                <a:latin typeface="楷体" charset="0"/>
                <a:ea typeface="楷体" charset="0"/>
                <a:cs typeface="楷体" charset="0"/>
              </a:rPr>
              <a:t>“</a:t>
            </a:r>
            <a:r>
              <a:rPr>
                <a:latin typeface="楷体" charset="0"/>
                <a:ea typeface="楷体" charset="0"/>
                <a:cs typeface="楷体" charset="0"/>
              </a:rPr>
              <a:t>鉴于</a:t>
            </a:r>
            <a:r>
              <a:rPr lang="zh-CN">
                <a:latin typeface="楷体" charset="0"/>
                <a:ea typeface="楷体" charset="0"/>
                <a:cs typeface="楷体" charset="0"/>
              </a:rPr>
              <a:t>”</a:t>
            </a:r>
            <a:r>
              <a:rPr>
                <a:latin typeface="楷体" charset="0"/>
                <a:ea typeface="楷体" charset="0"/>
                <a:cs typeface="楷体" charset="0"/>
              </a:rPr>
              <a:t>引导的分句通常放在句首，后面常用逗号隔开。</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口语练习（一）：复述新闻</a:t>
            </a:r>
          </a:p>
        </p:txBody>
      </p:sp>
      <p:sp>
        <p:nvSpPr>
          <p:cNvPr id="6" name="TextBox 5"/>
          <p:cNvSpPr txBox="1"/>
          <p:nvPr/>
        </p:nvSpPr>
        <p:spPr>
          <a:xfrm>
            <a:off x="731520" y="1463040"/>
            <a:ext cx="10515600" cy="5189855"/>
          </a:xfrm>
          <a:prstGeom prst="rect">
            <a:avLst/>
          </a:prstGeom>
          <a:noFill/>
        </p:spPr>
        <p:txBody>
          <a:bodyPr wrap="square">
            <a:spAutoFit/>
          </a:bodyPr>
          <a:lstStyle/>
          <a:p>
            <a:pPr indent="0" fontAlgn="auto">
              <a:lnSpc>
                <a:spcPct val="100000"/>
              </a:lnSpc>
              <a:spcBef>
                <a:spcPts val="1200"/>
              </a:spcBef>
              <a:spcAft>
                <a:spcPts val="800"/>
              </a:spcAft>
              <a:defRPr sz="2200">
                <a:solidFill>
                  <a:srgbClr val="2D2D2D"/>
                </a:solidFill>
                <a:latin typeface="微软雅黑"/>
              </a:defRPr>
            </a:pPr>
            <a:r>
              <a:rPr b="1">
                <a:latin typeface="Times New Roman Regular" panose="02020603050405020304" charset="0"/>
                <a:ea typeface="楷体" charset="0"/>
                <a:cs typeface="Times New Roman Regular" panose="02020603050405020304" charset="0"/>
              </a:rPr>
              <a:t>请根据新闻内容，用自己的话复述事件经过。</a:t>
            </a:r>
          </a:p>
          <a:p>
            <a:pPr indent="0" fontAlgn="auto">
              <a:lnSpc>
                <a:spcPct val="100000"/>
              </a:lnSpc>
              <a:spcBef>
                <a:spcPts val="1200"/>
              </a:spcBef>
              <a:spcAft>
                <a:spcPts val="800"/>
              </a:spcAft>
              <a:defRPr sz="2200">
                <a:solidFill>
                  <a:srgbClr val="2D2D2D"/>
                </a:solidFill>
                <a:latin typeface="微软雅黑"/>
              </a:defRPr>
            </a:pPr>
            <a:endParaRPr>
              <a:latin typeface="Times New Roman Regular" panose="02020603050405020304" charset="0"/>
              <a:ea typeface="楷体" charset="0"/>
              <a:cs typeface="Times New Roman Regular" panose="02020603050405020304" charset="0"/>
            </a:endParaRPr>
          </a:p>
          <a:p>
            <a:pPr indent="0" fontAlgn="auto">
              <a:lnSpc>
                <a:spcPct val="100000"/>
              </a:lnSpc>
              <a:spcBef>
                <a:spcPts val="1200"/>
              </a:spcBef>
              <a:spcAft>
                <a:spcPts val="800"/>
              </a:spcAft>
              <a:defRPr sz="2200">
                <a:solidFill>
                  <a:srgbClr val="2D2D2D"/>
                </a:solidFill>
                <a:latin typeface="微软雅黑"/>
              </a:defRPr>
            </a:pPr>
            <a:r>
              <a:rPr>
                <a:latin typeface="Times New Roman Regular" panose="02020603050405020304" charset="0"/>
                <a:ea typeface="楷体" charset="0"/>
                <a:cs typeface="Times New Roman Regular" panose="02020603050405020304" charset="0"/>
              </a:rPr>
              <a:t>提示词：</a:t>
            </a:r>
          </a:p>
          <a:p>
            <a:pPr indent="0" fontAlgn="auto">
              <a:lnSpc>
                <a:spcPct val="100000"/>
              </a:lnSpc>
              <a:spcBef>
                <a:spcPts val="1200"/>
              </a:spcBef>
              <a:spcAft>
                <a:spcPts val="800"/>
              </a:spcAft>
              <a:defRPr sz="2200">
                <a:solidFill>
                  <a:srgbClr val="2D2D2D"/>
                </a:solidFill>
                <a:latin typeface="微软雅黑"/>
              </a:defRPr>
            </a:pPr>
            <a:r>
              <a:rPr>
                <a:latin typeface="Times New Roman Regular" panose="02020603050405020304" charset="0"/>
                <a:ea typeface="楷体" charset="0"/>
                <a:cs typeface="Times New Roman Regular" panose="02020603050405020304" charset="0"/>
              </a:rPr>
              <a:t>• 云浮市 / 悦享游泳健身 / 突然关门</a:t>
            </a:r>
          </a:p>
          <a:p>
            <a:pPr indent="0" fontAlgn="auto">
              <a:lnSpc>
                <a:spcPct val="100000"/>
              </a:lnSpc>
              <a:spcBef>
                <a:spcPts val="1200"/>
              </a:spcBef>
              <a:spcAft>
                <a:spcPts val="800"/>
              </a:spcAft>
              <a:defRPr sz="2200">
                <a:solidFill>
                  <a:srgbClr val="2D2D2D"/>
                </a:solidFill>
                <a:latin typeface="微软雅黑"/>
              </a:defRPr>
            </a:pPr>
            <a:r>
              <a:rPr>
                <a:latin typeface="Times New Roman Regular" panose="02020603050405020304" charset="0"/>
                <a:ea typeface="楷体" charset="0"/>
                <a:cs typeface="Times New Roman Regular" panose="02020603050405020304" charset="0"/>
              </a:rPr>
              <a:t>• </a:t>
            </a:r>
            <a:r>
              <a:rPr lang="zh-CN">
                <a:latin typeface="Times New Roman Regular" panose="02020603050405020304" charset="0"/>
                <a:ea typeface="楷体" charset="0"/>
                <a:cs typeface="Times New Roman Regular" panose="02020603050405020304" charset="0"/>
              </a:rPr>
              <a:t>推销</a:t>
            </a:r>
            <a:r>
              <a:rPr>
                <a:latin typeface="Times New Roman Regular" panose="02020603050405020304" charset="0"/>
                <a:ea typeface="楷体" charset="0"/>
                <a:cs typeface="Times New Roman Regular" panose="02020603050405020304" charset="0"/>
              </a:rPr>
              <a:t>店庆活动 → 5天后清场</a:t>
            </a:r>
          </a:p>
          <a:p>
            <a:pPr indent="0" fontAlgn="auto">
              <a:lnSpc>
                <a:spcPct val="100000"/>
              </a:lnSpc>
              <a:spcBef>
                <a:spcPts val="1200"/>
              </a:spcBef>
              <a:spcAft>
                <a:spcPts val="800"/>
              </a:spcAft>
              <a:defRPr sz="2200">
                <a:solidFill>
                  <a:srgbClr val="2D2D2D"/>
                </a:solidFill>
                <a:latin typeface="微软雅黑"/>
              </a:defRPr>
            </a:pPr>
            <a:r>
              <a:rPr>
                <a:latin typeface="Times New Roman Regular" panose="02020603050405020304" charset="0"/>
                <a:ea typeface="楷体" charset="0"/>
                <a:cs typeface="Times New Roman Regular" panose="02020603050405020304" charset="0"/>
              </a:rPr>
              <a:t>• 600多名会员 / 维权群 / 共享文档</a:t>
            </a:r>
          </a:p>
          <a:p>
            <a:pPr indent="0" fontAlgn="auto">
              <a:lnSpc>
                <a:spcPct val="100000"/>
              </a:lnSpc>
              <a:spcBef>
                <a:spcPts val="1200"/>
              </a:spcBef>
              <a:spcAft>
                <a:spcPts val="800"/>
              </a:spcAft>
              <a:defRPr sz="2200">
                <a:solidFill>
                  <a:srgbClr val="2D2D2D"/>
                </a:solidFill>
                <a:latin typeface="微软雅黑"/>
              </a:defRPr>
            </a:pPr>
            <a:r>
              <a:rPr>
                <a:latin typeface="Times New Roman Regular" panose="02020603050405020304" charset="0"/>
                <a:ea typeface="楷体" charset="0"/>
                <a:cs typeface="Times New Roman Regular" panose="02020603050405020304" charset="0"/>
              </a:rPr>
              <a:t>• 拖欠租金 / 欺诈 / 法律途径</a:t>
            </a:r>
          </a:p>
          <a:p>
            <a:pPr indent="0" fontAlgn="auto">
              <a:lnSpc>
                <a:spcPct val="100000"/>
              </a:lnSpc>
              <a:spcBef>
                <a:spcPts val="1200"/>
              </a:spcBef>
              <a:spcAft>
                <a:spcPts val="800"/>
              </a:spcAft>
              <a:defRPr sz="2200">
                <a:solidFill>
                  <a:srgbClr val="2D2D2D"/>
                </a:solidFill>
                <a:latin typeface="微软雅黑"/>
              </a:defRPr>
            </a:pPr>
            <a:endParaRPr>
              <a:latin typeface="Times New Roman Regular" panose="02020603050405020304" charset="0"/>
              <a:ea typeface="楷体" charset="0"/>
              <a:cs typeface="Times New Roman Regular" panose="02020603050405020304" charset="0"/>
            </a:endParaRPr>
          </a:p>
          <a:p>
            <a:pPr indent="0" fontAlgn="auto">
              <a:lnSpc>
                <a:spcPct val="100000"/>
              </a:lnSpc>
              <a:spcBef>
                <a:spcPts val="1200"/>
              </a:spcBef>
              <a:spcAft>
                <a:spcPts val="800"/>
              </a:spcAft>
              <a:defRPr sz="2200">
                <a:solidFill>
                  <a:srgbClr val="2D2D2D"/>
                </a:solidFill>
                <a:latin typeface="微软雅黑"/>
              </a:defRPr>
            </a:pPr>
            <a:r>
              <a:rPr>
                <a:latin typeface="Times New Roman Regular" panose="02020603050405020304" charset="0"/>
                <a:ea typeface="楷体" charset="0"/>
                <a:cs typeface="Times New Roman Regular" panose="02020603050405020304" charset="0"/>
              </a:rPr>
              <a:t>要求：尽量使用本课生词和语法点。</a:t>
            </a:r>
          </a:p>
        </p:txBody>
      </p:sp>
      <p:sp>
        <p:nvSpPr>
          <p:cNvPr id="7" name="Rounded Rectangle 6"/>
          <p:cNvSpPr/>
          <p:nvPr/>
        </p:nvSpPr>
        <p:spPr>
          <a:xfrm>
            <a:off x="10515600" y="228600"/>
            <a:ext cx="1097280" cy="5486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 说</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5059680" cy="583565"/>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口语练习（</a:t>
            </a:r>
            <a:r>
              <a:rPr lang="zh-CN">
                <a:latin typeface="字由点字青花楷" charset="0"/>
              </a:rPr>
              <a:t>二</a:t>
            </a:r>
            <a:r>
              <a:rPr>
                <a:latin typeface="字由点字青花楷" charset="0"/>
              </a:rPr>
              <a:t>）：小型辩论</a:t>
            </a:r>
          </a:p>
        </p:txBody>
      </p:sp>
      <p:sp>
        <p:nvSpPr>
          <p:cNvPr id="6" name="Rounded Rectangle 5"/>
          <p:cNvSpPr/>
          <p:nvPr/>
        </p:nvSpPr>
        <p:spPr>
          <a:xfrm>
            <a:off x="548640" y="1371600"/>
            <a:ext cx="10972800" cy="10972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1674495"/>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8" name="TextBox 7"/>
          <p:cNvSpPr txBox="1"/>
          <p:nvPr/>
        </p:nvSpPr>
        <p:spPr>
          <a:xfrm>
            <a:off x="1463040" y="1674495"/>
            <a:ext cx="9875520" cy="491490"/>
          </a:xfrm>
          <a:prstGeom prst="rect">
            <a:avLst/>
          </a:prstGeom>
          <a:noFill/>
        </p:spPr>
        <p:txBody>
          <a:bodyPr wrap="square">
            <a:spAutoFit/>
          </a:bodyPr>
          <a:lstStyle/>
          <a:p>
            <a:pPr>
              <a:lnSpc>
                <a:spcPct val="130000"/>
              </a:lnSpc>
              <a:defRPr sz="2000">
                <a:solidFill>
                  <a:srgbClr val="2D2D2D"/>
                </a:solidFill>
                <a:latin typeface="微软雅黑"/>
              </a:defRPr>
            </a:pPr>
            <a:r>
              <a:rPr>
                <a:latin typeface="楷体" charset="0"/>
                <a:ea typeface="楷体" charset="0"/>
              </a:rPr>
              <a:t>辩题：预付式消费模式应该被禁止吗？</a:t>
            </a:r>
          </a:p>
        </p:txBody>
      </p:sp>
      <p:sp>
        <p:nvSpPr>
          <p:cNvPr id="9" name="Rounded Rectangle 8"/>
          <p:cNvSpPr/>
          <p:nvPr/>
        </p:nvSpPr>
        <p:spPr>
          <a:xfrm>
            <a:off x="548640" y="2651760"/>
            <a:ext cx="10972800" cy="10972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22960" y="2954655"/>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1" name="TextBox 10"/>
          <p:cNvSpPr txBox="1"/>
          <p:nvPr/>
        </p:nvSpPr>
        <p:spPr>
          <a:xfrm>
            <a:off x="1463040" y="2954655"/>
            <a:ext cx="9875520" cy="491490"/>
          </a:xfrm>
          <a:prstGeom prst="rect">
            <a:avLst/>
          </a:prstGeom>
          <a:noFill/>
        </p:spPr>
        <p:txBody>
          <a:bodyPr wrap="square">
            <a:spAutoFit/>
          </a:bodyPr>
          <a:lstStyle/>
          <a:p>
            <a:pPr>
              <a:lnSpc>
                <a:spcPct val="130000"/>
              </a:lnSpc>
              <a:defRPr sz="2000">
                <a:solidFill>
                  <a:srgbClr val="2D2D2D"/>
                </a:solidFill>
                <a:latin typeface="微软雅黑"/>
              </a:defRPr>
            </a:pPr>
            <a:r>
              <a:rPr>
                <a:latin typeface="楷体" charset="0"/>
                <a:ea typeface="楷体" charset="0"/>
                <a:sym typeface="+mn-ea"/>
              </a:rPr>
              <a:t>正方观点：预付式消费风险太大，消费者容易受骗，应该禁止或严格限制。</a:t>
            </a:r>
          </a:p>
        </p:txBody>
      </p:sp>
      <p:sp>
        <p:nvSpPr>
          <p:cNvPr id="12" name="Rounded Rectangle 11"/>
          <p:cNvSpPr/>
          <p:nvPr/>
        </p:nvSpPr>
        <p:spPr>
          <a:xfrm>
            <a:off x="548640" y="3931920"/>
            <a:ext cx="10972800" cy="10972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2960" y="4234815"/>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4" name="TextBox 13"/>
          <p:cNvSpPr txBox="1"/>
          <p:nvPr/>
        </p:nvSpPr>
        <p:spPr>
          <a:xfrm>
            <a:off x="1463040" y="4234815"/>
            <a:ext cx="9875520" cy="491490"/>
          </a:xfrm>
          <a:prstGeom prst="rect">
            <a:avLst/>
          </a:prstGeom>
          <a:noFill/>
        </p:spPr>
        <p:txBody>
          <a:bodyPr wrap="square">
            <a:spAutoFit/>
          </a:bodyPr>
          <a:lstStyle/>
          <a:p>
            <a:pPr>
              <a:lnSpc>
                <a:spcPct val="130000"/>
              </a:lnSpc>
              <a:defRPr sz="2000">
                <a:solidFill>
                  <a:srgbClr val="2D2D2D"/>
                </a:solidFill>
                <a:latin typeface="微软雅黑"/>
              </a:defRPr>
            </a:pPr>
            <a:r>
              <a:rPr>
                <a:latin typeface="楷体" charset="0"/>
                <a:ea typeface="楷体" charset="0"/>
                <a:sym typeface="+mn-ea"/>
              </a:rPr>
              <a:t>反方观点：预付式消费能给消费者优惠，也能帮助商家资金周转，不应该一刀切禁止。</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深度讨论（一）</a:t>
            </a:r>
          </a:p>
        </p:txBody>
      </p:sp>
      <p:sp>
        <p:nvSpPr>
          <p:cNvPr id="6" name="Rounded Rectangle 5"/>
          <p:cNvSpPr/>
          <p:nvPr/>
        </p:nvSpPr>
        <p:spPr>
          <a:xfrm>
            <a:off x="548640" y="1371600"/>
            <a:ext cx="10972800" cy="10972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22960" y="1714500"/>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1</a:t>
            </a:r>
          </a:p>
        </p:txBody>
      </p:sp>
      <p:sp>
        <p:nvSpPr>
          <p:cNvPr id="8" name="TextBox 7"/>
          <p:cNvSpPr txBox="1"/>
          <p:nvPr/>
        </p:nvSpPr>
        <p:spPr>
          <a:xfrm>
            <a:off x="1463040" y="1697355"/>
            <a:ext cx="9875520" cy="491490"/>
          </a:xfrm>
          <a:prstGeom prst="rect">
            <a:avLst/>
          </a:prstGeom>
          <a:noFill/>
        </p:spPr>
        <p:txBody>
          <a:bodyPr wrap="square">
            <a:spAutoFit/>
          </a:bodyPr>
          <a:lstStyle/>
          <a:p>
            <a:pPr>
              <a:lnSpc>
                <a:spcPct val="130000"/>
              </a:lnSpc>
              <a:defRPr sz="2000">
                <a:solidFill>
                  <a:srgbClr val="2D2D2D"/>
                </a:solidFill>
                <a:latin typeface="微软雅黑"/>
              </a:defRPr>
            </a:pPr>
            <a:r>
              <a:rPr>
                <a:latin typeface="楷体" charset="0"/>
                <a:ea typeface="楷体" charset="0"/>
                <a:cs typeface="楷体" charset="0"/>
              </a:rPr>
              <a:t>在中国，除了健身房，还有哪些行业经常出现</a:t>
            </a:r>
            <a:r>
              <a:rPr lang="zh-CN">
                <a:latin typeface="楷体" charset="0"/>
                <a:ea typeface="楷体" charset="0"/>
                <a:cs typeface="楷体" charset="0"/>
              </a:rPr>
              <a:t>“</a:t>
            </a:r>
            <a:r>
              <a:rPr>
                <a:latin typeface="楷体" charset="0"/>
                <a:ea typeface="楷体" charset="0"/>
                <a:cs typeface="楷体" charset="0"/>
              </a:rPr>
              <a:t>跑路</a:t>
            </a:r>
            <a:r>
              <a:rPr lang="zh-CN">
                <a:latin typeface="楷体" charset="0"/>
                <a:ea typeface="楷体" charset="0"/>
                <a:cs typeface="楷体" charset="0"/>
              </a:rPr>
              <a:t>”</a:t>
            </a:r>
            <a:r>
              <a:rPr>
                <a:latin typeface="楷体" charset="0"/>
                <a:ea typeface="楷体" charset="0"/>
                <a:cs typeface="楷体" charset="0"/>
              </a:rPr>
              <a:t>现象？你听说过哪些案例？</a:t>
            </a:r>
          </a:p>
        </p:txBody>
      </p:sp>
      <p:sp>
        <p:nvSpPr>
          <p:cNvPr id="9" name="Rounded Rectangle 8"/>
          <p:cNvSpPr/>
          <p:nvPr/>
        </p:nvSpPr>
        <p:spPr>
          <a:xfrm>
            <a:off x="548640" y="2651760"/>
            <a:ext cx="10972800" cy="10972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22960" y="2994660"/>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2</a:t>
            </a:r>
          </a:p>
        </p:txBody>
      </p:sp>
      <p:sp>
        <p:nvSpPr>
          <p:cNvPr id="11" name="TextBox 10"/>
          <p:cNvSpPr txBox="1"/>
          <p:nvPr/>
        </p:nvSpPr>
        <p:spPr>
          <a:xfrm>
            <a:off x="1463040" y="2978150"/>
            <a:ext cx="9875520" cy="615950"/>
          </a:xfrm>
          <a:prstGeom prst="rect">
            <a:avLst/>
          </a:prstGeom>
          <a:noFill/>
        </p:spPr>
        <p:txBody>
          <a:bodyPr wrap="square">
            <a:noAutofit/>
          </a:bodyPr>
          <a:lstStyle/>
          <a:p>
            <a:pPr>
              <a:lnSpc>
                <a:spcPct val="130000"/>
              </a:lnSpc>
              <a:defRPr sz="2000">
                <a:solidFill>
                  <a:srgbClr val="2D2D2D"/>
                </a:solidFill>
                <a:latin typeface="微软雅黑"/>
              </a:defRPr>
            </a:pPr>
            <a:r>
              <a:rPr>
                <a:latin typeface="楷体" charset="0"/>
                <a:ea typeface="楷体" charset="0"/>
                <a:cs typeface="楷体" charset="0"/>
                <a:sym typeface="+mn-ea"/>
              </a:rPr>
              <a:t>为什么有些健身房明知要倒闭了，还要在最后几天大力促销办卡？</a:t>
            </a:r>
          </a:p>
        </p:txBody>
      </p:sp>
      <p:sp>
        <p:nvSpPr>
          <p:cNvPr id="12" name="Rounded Rectangle 11"/>
          <p:cNvSpPr/>
          <p:nvPr/>
        </p:nvSpPr>
        <p:spPr>
          <a:xfrm>
            <a:off x="548640" y="3931920"/>
            <a:ext cx="10972800" cy="10972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22960" y="4274820"/>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3</a:t>
            </a:r>
          </a:p>
        </p:txBody>
      </p:sp>
      <p:sp>
        <p:nvSpPr>
          <p:cNvPr id="14" name="TextBox 13"/>
          <p:cNvSpPr txBox="1"/>
          <p:nvPr/>
        </p:nvSpPr>
        <p:spPr>
          <a:xfrm>
            <a:off x="1463040" y="4251960"/>
            <a:ext cx="9875520" cy="491490"/>
          </a:xfrm>
          <a:prstGeom prst="rect">
            <a:avLst/>
          </a:prstGeom>
          <a:noFill/>
        </p:spPr>
        <p:txBody>
          <a:bodyPr wrap="square">
            <a:spAutoFit/>
          </a:bodyPr>
          <a:lstStyle/>
          <a:p>
            <a:pPr>
              <a:lnSpc>
                <a:spcPct val="130000"/>
              </a:lnSpc>
              <a:defRPr sz="2000">
                <a:solidFill>
                  <a:srgbClr val="2D2D2D"/>
                </a:solidFill>
                <a:latin typeface="微软雅黑"/>
              </a:defRPr>
            </a:pPr>
            <a:r>
              <a:rPr lang="zh-CN">
                <a:latin typeface="楷体" charset="0"/>
                <a:ea typeface="楷体" charset="0"/>
                <a:cs typeface="楷体" charset="0"/>
                <a:sym typeface="+mn-ea"/>
              </a:rPr>
              <a:t>“</a:t>
            </a:r>
            <a:r>
              <a:rPr>
                <a:latin typeface="楷体" charset="0"/>
                <a:ea typeface="楷体" charset="0"/>
                <a:cs typeface="楷体" charset="0"/>
                <a:sym typeface="+mn-ea"/>
              </a:rPr>
              <a:t>换个马甲重新开业</a:t>
            </a:r>
            <a:r>
              <a:rPr lang="zh-CN">
                <a:latin typeface="楷体" charset="0"/>
                <a:ea typeface="楷体" charset="0"/>
                <a:cs typeface="楷体" charset="0"/>
                <a:sym typeface="+mn-ea"/>
              </a:rPr>
              <a:t>”</a:t>
            </a:r>
            <a:r>
              <a:rPr>
                <a:latin typeface="楷体" charset="0"/>
                <a:ea typeface="楷体" charset="0"/>
                <a:cs typeface="楷体" charset="0"/>
                <a:sym typeface="+mn-ea"/>
              </a:rPr>
              <a:t>是什么意思？</a:t>
            </a:r>
          </a:p>
        </p:txBody>
      </p:sp>
      <p:sp>
        <p:nvSpPr>
          <p:cNvPr id="15" name="Rounded Rectangle 11"/>
          <p:cNvSpPr/>
          <p:nvPr/>
        </p:nvSpPr>
        <p:spPr>
          <a:xfrm>
            <a:off x="548640" y="5303520"/>
            <a:ext cx="10972800" cy="1097280"/>
          </a:xfrm>
          <a:prstGeom prst="roundRect">
            <a:avLst/>
          </a:prstGeom>
          <a:solidFill>
            <a:srgbClr val="FFFFFF"/>
          </a:solidFill>
          <a:ln>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2"/>
          <p:cNvSpPr/>
          <p:nvPr/>
        </p:nvSpPr>
        <p:spPr>
          <a:xfrm>
            <a:off x="822960" y="5646420"/>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rPr lang="en-US"/>
              <a:t>4</a:t>
            </a:r>
          </a:p>
        </p:txBody>
      </p:sp>
      <p:sp>
        <p:nvSpPr>
          <p:cNvPr id="17" name="TextBox 13"/>
          <p:cNvSpPr txBox="1"/>
          <p:nvPr/>
        </p:nvSpPr>
        <p:spPr>
          <a:xfrm>
            <a:off x="1463040" y="5612130"/>
            <a:ext cx="9875520" cy="491490"/>
          </a:xfrm>
          <a:prstGeom prst="rect">
            <a:avLst/>
          </a:prstGeom>
          <a:noFill/>
        </p:spPr>
        <p:txBody>
          <a:bodyPr wrap="square">
            <a:spAutoFit/>
          </a:bodyPr>
          <a:lstStyle/>
          <a:p>
            <a:pPr>
              <a:lnSpc>
                <a:spcPct val="130000"/>
              </a:lnSpc>
              <a:defRPr sz="2000">
                <a:solidFill>
                  <a:srgbClr val="2D2D2D"/>
                </a:solidFill>
                <a:latin typeface="微软雅黑"/>
              </a:defRPr>
            </a:pPr>
            <a:r>
              <a:rPr lang="zh-CN" altLang="en-US">
                <a:latin typeface="楷体" charset="0"/>
                <a:ea typeface="楷体" charset="0"/>
                <a:cs typeface="楷体" charset="0"/>
                <a:sym typeface="+mn-ea"/>
              </a:rPr>
              <a:t>如果你是健身房消费者，你会选择什么样的付款方式？月付、季付还是年付？为什么？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文化拓展：中国的预付式消费</a:t>
            </a:r>
          </a:p>
        </p:txBody>
      </p:sp>
      <p:sp>
        <p:nvSpPr>
          <p:cNvPr id="6" name="TextBox 5"/>
          <p:cNvSpPr txBox="1"/>
          <p:nvPr/>
        </p:nvSpPr>
        <p:spPr>
          <a:xfrm>
            <a:off x="731520" y="2024380"/>
            <a:ext cx="10515600" cy="3404870"/>
          </a:xfrm>
          <a:prstGeom prst="rect">
            <a:avLst/>
          </a:prstGeom>
          <a:noFill/>
        </p:spPr>
        <p:txBody>
          <a:bodyPr wrap="square">
            <a:spAutoFit/>
          </a:bodyPr>
          <a:lstStyle/>
          <a:p>
            <a:pPr indent="0" fontAlgn="auto">
              <a:lnSpc>
                <a:spcPct val="100000"/>
              </a:lnSpc>
              <a:spcBef>
                <a:spcPts val="1200"/>
              </a:spcBef>
              <a:spcAft>
                <a:spcPts val="800"/>
              </a:spcAft>
              <a:defRPr sz="2200">
                <a:solidFill>
                  <a:srgbClr val="2D2D2D"/>
                </a:solidFill>
                <a:latin typeface="微软雅黑"/>
              </a:defRPr>
            </a:pPr>
            <a:r>
              <a:rPr b="1">
                <a:latin typeface="楷体" charset="0"/>
                <a:ea typeface="楷体" charset="0"/>
                <a:cs typeface="楷体" charset="0"/>
              </a:rPr>
              <a:t>在中国，预付式消费非常普遍，涉及：</a:t>
            </a:r>
          </a:p>
          <a:p>
            <a:pPr indent="0" fontAlgn="auto">
              <a:lnSpc>
                <a:spcPct val="100000"/>
              </a:lnSpc>
              <a:spcBef>
                <a:spcPts val="1200"/>
              </a:spcBef>
              <a:spcAft>
                <a:spcPts val="800"/>
              </a:spcAft>
              <a:defRPr sz="2200">
                <a:solidFill>
                  <a:srgbClr val="2D2D2D"/>
                </a:solidFill>
                <a:latin typeface="微软雅黑"/>
              </a:defRPr>
            </a:pPr>
            <a:endParaRPr>
              <a:latin typeface="楷体" charset="0"/>
              <a:ea typeface="楷体" charset="0"/>
              <a:cs typeface="楷体" charset="0"/>
            </a:endParaRP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健身卡、美容卡、理发卡</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教育培训课程</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餐饮储值卡、水果店会员卡</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洗车卡、瑜伽卡</a:t>
            </a:r>
          </a:p>
        </p:txBody>
      </p:sp>
      <p:sp>
        <p:nvSpPr>
          <p:cNvPr id="7" name="Rounded Rectangle 6"/>
          <p:cNvSpPr/>
          <p:nvPr/>
        </p:nvSpPr>
        <p:spPr>
          <a:xfrm>
            <a:off x="10515600" y="228600"/>
            <a:ext cx="1097280" cy="5486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 文化</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文化拓展：中国的预付式消费</a:t>
            </a:r>
          </a:p>
        </p:txBody>
      </p:sp>
      <p:sp>
        <p:nvSpPr>
          <p:cNvPr id="6" name="TextBox 5"/>
          <p:cNvSpPr txBox="1"/>
          <p:nvPr/>
        </p:nvSpPr>
        <p:spPr>
          <a:xfrm>
            <a:off x="731520" y="1463040"/>
            <a:ext cx="10515600" cy="5189855"/>
          </a:xfrm>
          <a:prstGeom prst="rect">
            <a:avLst/>
          </a:prstGeom>
          <a:noFill/>
        </p:spPr>
        <p:txBody>
          <a:bodyPr wrap="square">
            <a:spAutoFit/>
          </a:bodyPr>
          <a:lstStyle/>
          <a:p>
            <a:pPr indent="0" fontAlgn="auto">
              <a:lnSpc>
                <a:spcPct val="100000"/>
              </a:lnSpc>
              <a:spcBef>
                <a:spcPts val="1200"/>
              </a:spcBef>
              <a:spcAft>
                <a:spcPts val="800"/>
              </a:spcAft>
              <a:defRPr sz="2200">
                <a:solidFill>
                  <a:srgbClr val="2D2D2D"/>
                </a:solidFill>
                <a:latin typeface="微软雅黑"/>
              </a:defRPr>
            </a:pPr>
            <a:r>
              <a:rPr b="1">
                <a:latin typeface="楷体" charset="0"/>
                <a:ea typeface="楷体" charset="0"/>
                <a:cs typeface="楷体" charset="0"/>
              </a:rPr>
              <a:t>风险：</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优惠越大，风险越高</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商家卷款跑路后，消费者维权成本高</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2025年新规出台，但</a:t>
            </a:r>
            <a:r>
              <a:rPr lang="zh-CN">
                <a:latin typeface="楷体" charset="0"/>
                <a:ea typeface="楷体" charset="0"/>
                <a:cs typeface="楷体" charset="0"/>
              </a:rPr>
              <a:t>实际</a:t>
            </a:r>
            <a:r>
              <a:rPr>
                <a:latin typeface="楷体" charset="0"/>
                <a:ea typeface="楷体" charset="0"/>
                <a:cs typeface="楷体" charset="0"/>
              </a:rPr>
              <a:t>执行</a:t>
            </a:r>
            <a:r>
              <a:rPr lang="zh-CN">
                <a:latin typeface="楷体" charset="0"/>
                <a:ea typeface="楷体" charset="0"/>
                <a:cs typeface="楷体" charset="0"/>
              </a:rPr>
              <a:t>上</a:t>
            </a:r>
            <a:r>
              <a:rPr>
                <a:latin typeface="楷体" charset="0"/>
                <a:ea typeface="楷体" charset="0"/>
                <a:cs typeface="楷体" charset="0"/>
              </a:rPr>
              <a:t>仍存困难</a:t>
            </a:r>
          </a:p>
          <a:p>
            <a:pPr indent="0" fontAlgn="auto">
              <a:lnSpc>
                <a:spcPct val="100000"/>
              </a:lnSpc>
              <a:spcBef>
                <a:spcPts val="1200"/>
              </a:spcBef>
              <a:spcAft>
                <a:spcPts val="800"/>
              </a:spcAft>
              <a:defRPr sz="2200">
                <a:solidFill>
                  <a:srgbClr val="2D2D2D"/>
                </a:solidFill>
                <a:latin typeface="微软雅黑"/>
              </a:defRPr>
            </a:pPr>
            <a:endParaRPr>
              <a:latin typeface="楷体" charset="0"/>
              <a:ea typeface="楷体" charset="0"/>
              <a:cs typeface="楷体" charset="0"/>
            </a:endParaRPr>
          </a:p>
          <a:p>
            <a:pPr indent="0" fontAlgn="auto">
              <a:lnSpc>
                <a:spcPct val="100000"/>
              </a:lnSpc>
              <a:spcBef>
                <a:spcPts val="1200"/>
              </a:spcBef>
              <a:spcAft>
                <a:spcPts val="800"/>
              </a:spcAft>
              <a:defRPr sz="2200">
                <a:solidFill>
                  <a:srgbClr val="2D2D2D"/>
                </a:solidFill>
                <a:latin typeface="微软雅黑"/>
              </a:defRPr>
            </a:pPr>
            <a:r>
              <a:rPr lang="zh-CN" b="1">
                <a:latin typeface="楷体" charset="0"/>
                <a:ea typeface="楷体" charset="0"/>
                <a:cs typeface="楷体" charset="0"/>
              </a:rPr>
              <a:t>怎么避免财产损失</a:t>
            </a:r>
            <a:r>
              <a:rPr b="1">
                <a:latin typeface="楷体" charset="0"/>
                <a:ea typeface="楷体" charset="0"/>
                <a:cs typeface="楷体" charset="0"/>
              </a:rPr>
              <a:t>：</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选择</a:t>
            </a:r>
            <a:r>
              <a:rPr lang="zh-CN">
                <a:latin typeface="楷体" charset="0"/>
                <a:ea typeface="楷体" charset="0"/>
                <a:cs typeface="楷体" charset="0"/>
              </a:rPr>
              <a:t>正规</a:t>
            </a:r>
            <a:r>
              <a:rPr>
                <a:latin typeface="楷体" charset="0"/>
                <a:ea typeface="楷体" charset="0"/>
                <a:cs typeface="楷体" charset="0"/>
              </a:rPr>
              <a:t>、信誉好的商家</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不要一次性</a:t>
            </a:r>
            <a:r>
              <a:rPr lang="zh-CN">
                <a:latin typeface="楷体" charset="0"/>
                <a:ea typeface="楷体" charset="0"/>
                <a:cs typeface="楷体" charset="0"/>
              </a:rPr>
              <a:t>充值太多</a:t>
            </a:r>
            <a:endParaRPr>
              <a:latin typeface="楷体" charset="0"/>
              <a:ea typeface="楷体" charset="0"/>
              <a:cs typeface="楷体" charset="0"/>
            </a:endParaRP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a:t>
            </a:r>
            <a:r>
              <a:rPr lang="zh-CN">
                <a:latin typeface="楷体" charset="0"/>
                <a:ea typeface="楷体" charset="0"/>
                <a:cs typeface="楷体" charset="0"/>
              </a:rPr>
              <a:t>一定要</a:t>
            </a:r>
            <a:r>
              <a:rPr>
                <a:latin typeface="楷体" charset="0"/>
                <a:ea typeface="楷体" charset="0"/>
                <a:cs typeface="楷体" charset="0"/>
              </a:rPr>
              <a:t>签订书面合同，保存付款凭证</a:t>
            </a:r>
          </a:p>
        </p:txBody>
      </p:sp>
      <p:sp>
        <p:nvSpPr>
          <p:cNvPr id="7" name="Rounded Rectangle 6"/>
          <p:cNvSpPr/>
          <p:nvPr/>
        </p:nvSpPr>
        <p:spPr>
          <a:xfrm>
            <a:off x="10515600" y="228600"/>
            <a:ext cx="1097280" cy="5486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 文化</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法律小知识：2025年新规亮点</a:t>
            </a:r>
          </a:p>
        </p:txBody>
      </p:sp>
      <p:sp>
        <p:nvSpPr>
          <p:cNvPr id="6" name="TextBox 5"/>
          <p:cNvSpPr txBox="1"/>
          <p:nvPr/>
        </p:nvSpPr>
        <p:spPr>
          <a:xfrm>
            <a:off x="731520" y="1463040"/>
            <a:ext cx="10515600" cy="4928235"/>
          </a:xfrm>
          <a:prstGeom prst="rect">
            <a:avLst/>
          </a:prstGeom>
          <a:noFill/>
        </p:spPr>
        <p:txBody>
          <a:bodyPr wrap="square">
            <a:spAutoFit/>
          </a:bodyPr>
          <a:lstStyle/>
          <a:p>
            <a:pPr>
              <a:lnSpc>
                <a:spcPct val="150000"/>
              </a:lnSpc>
              <a:spcBef>
                <a:spcPts val="1200"/>
              </a:spcBef>
              <a:spcAft>
                <a:spcPts val="800"/>
              </a:spcAft>
              <a:defRPr sz="2200">
                <a:solidFill>
                  <a:srgbClr val="2D2D2D"/>
                </a:solidFill>
                <a:latin typeface="微软雅黑"/>
              </a:defRPr>
            </a:pPr>
            <a:r>
              <a:rPr>
                <a:latin typeface="楷体" charset="0"/>
                <a:ea typeface="楷体" charset="0"/>
                <a:cs typeface="楷体" charset="0"/>
              </a:rPr>
              <a:t>《最高人民法院关于预付式消费民事纠纷案件适用法律若干问题的解释》</a:t>
            </a:r>
          </a:p>
          <a:p>
            <a:pPr>
              <a:lnSpc>
                <a:spcPct val="150000"/>
              </a:lnSpc>
              <a:spcBef>
                <a:spcPts val="1200"/>
              </a:spcBef>
              <a:spcAft>
                <a:spcPts val="800"/>
              </a:spcAft>
              <a:defRPr sz="2200">
                <a:solidFill>
                  <a:srgbClr val="2D2D2D"/>
                </a:solidFill>
                <a:latin typeface="微软雅黑"/>
              </a:defRPr>
            </a:pPr>
            <a:r>
              <a:rPr>
                <a:latin typeface="楷体" charset="0"/>
                <a:ea typeface="楷体" charset="0"/>
                <a:cs typeface="楷体" charset="0"/>
              </a:rPr>
              <a:t>🔹 三倍惩罚性赔偿：经营者明知无法履约仍收款的，构成欺诈，退一赔三。</a:t>
            </a:r>
          </a:p>
          <a:p>
            <a:pPr>
              <a:lnSpc>
                <a:spcPct val="150000"/>
              </a:lnSpc>
              <a:spcBef>
                <a:spcPts val="1200"/>
              </a:spcBef>
              <a:spcAft>
                <a:spcPts val="800"/>
              </a:spcAft>
              <a:defRPr sz="2200">
                <a:solidFill>
                  <a:srgbClr val="2D2D2D"/>
                </a:solidFill>
                <a:latin typeface="微软雅黑"/>
              </a:defRPr>
            </a:pPr>
            <a:r>
              <a:rPr>
                <a:latin typeface="楷体" charset="0"/>
                <a:ea typeface="楷体" charset="0"/>
                <a:cs typeface="楷体" charset="0"/>
              </a:rPr>
              <a:t>🔹 霸王条款无效：</a:t>
            </a:r>
            <a:r>
              <a:rPr lang="zh-CN">
                <a:latin typeface="楷体" charset="0"/>
                <a:ea typeface="楷体" charset="0"/>
                <a:cs typeface="楷体" charset="0"/>
              </a:rPr>
              <a:t>“</a:t>
            </a:r>
            <a:r>
              <a:rPr>
                <a:latin typeface="楷体" charset="0"/>
                <a:ea typeface="楷体" charset="0"/>
                <a:cs typeface="楷体" charset="0"/>
              </a:rPr>
              <a:t>收款不退</a:t>
            </a:r>
            <a:r>
              <a:rPr lang="zh-CN">
                <a:latin typeface="楷体" charset="0"/>
                <a:ea typeface="楷体" charset="0"/>
                <a:cs typeface="楷体" charset="0"/>
              </a:rPr>
              <a:t>”“</a:t>
            </a:r>
            <a:r>
              <a:rPr>
                <a:latin typeface="楷体" charset="0"/>
                <a:ea typeface="楷体" charset="0"/>
                <a:cs typeface="楷体" charset="0"/>
              </a:rPr>
              <a:t>丢卡不补</a:t>
            </a:r>
            <a:r>
              <a:rPr lang="zh-CN">
                <a:latin typeface="楷体" charset="0"/>
                <a:ea typeface="楷体" charset="0"/>
                <a:cs typeface="楷体" charset="0"/>
              </a:rPr>
              <a:t>”“</a:t>
            </a:r>
            <a:r>
              <a:rPr>
                <a:latin typeface="楷体" charset="0"/>
                <a:ea typeface="楷体" charset="0"/>
                <a:cs typeface="楷体" charset="0"/>
              </a:rPr>
              <a:t>限制转卡</a:t>
            </a:r>
            <a:r>
              <a:rPr lang="zh-CN">
                <a:latin typeface="楷体" charset="0"/>
                <a:ea typeface="楷体" charset="0"/>
                <a:cs typeface="楷体" charset="0"/>
              </a:rPr>
              <a:t>”</a:t>
            </a:r>
            <a:r>
              <a:rPr>
                <a:latin typeface="楷体" charset="0"/>
                <a:ea typeface="楷体" charset="0"/>
                <a:cs typeface="楷体" charset="0"/>
              </a:rPr>
              <a:t>等不公平条款无效。</a:t>
            </a:r>
          </a:p>
          <a:p>
            <a:pPr>
              <a:lnSpc>
                <a:spcPct val="150000"/>
              </a:lnSpc>
              <a:spcBef>
                <a:spcPts val="1200"/>
              </a:spcBef>
              <a:spcAft>
                <a:spcPts val="800"/>
              </a:spcAft>
              <a:defRPr sz="2200">
                <a:solidFill>
                  <a:srgbClr val="2D2D2D"/>
                </a:solidFill>
                <a:latin typeface="微软雅黑"/>
              </a:defRPr>
            </a:pPr>
            <a:r>
              <a:rPr>
                <a:latin typeface="楷体" charset="0"/>
                <a:ea typeface="楷体" charset="0"/>
                <a:cs typeface="楷体" charset="0"/>
              </a:rPr>
              <a:t>🔹 举证责任倒置：商家拒不提供消费记录的，法院直接采信消费者主张。</a:t>
            </a:r>
          </a:p>
          <a:p>
            <a:pPr>
              <a:lnSpc>
                <a:spcPct val="150000"/>
              </a:lnSpc>
              <a:spcBef>
                <a:spcPts val="1200"/>
              </a:spcBef>
              <a:spcAft>
                <a:spcPts val="800"/>
              </a:spcAft>
              <a:defRPr sz="2200">
                <a:solidFill>
                  <a:srgbClr val="2D2D2D"/>
                </a:solidFill>
                <a:latin typeface="微软雅黑"/>
              </a:defRPr>
            </a:pPr>
            <a:r>
              <a:rPr>
                <a:latin typeface="楷体" charset="0"/>
                <a:ea typeface="楷体" charset="0"/>
                <a:cs typeface="楷体" charset="0"/>
              </a:rPr>
              <a:t>🔹 场地出租者责任：商场未尽审核义务，导致无资质经营者骗钱的，需承担相应责任。</a:t>
            </a:r>
          </a:p>
          <a:p>
            <a:pPr>
              <a:lnSpc>
                <a:spcPct val="150000"/>
              </a:lnSpc>
              <a:spcBef>
                <a:spcPts val="1200"/>
              </a:spcBef>
              <a:spcAft>
                <a:spcPts val="800"/>
              </a:spcAft>
              <a:defRPr sz="2200">
                <a:solidFill>
                  <a:srgbClr val="2D2D2D"/>
                </a:solidFill>
                <a:latin typeface="微软雅黑"/>
              </a:defRPr>
            </a:pPr>
            <a:r>
              <a:rPr lang="en-US">
                <a:latin typeface="楷体" charset="0"/>
                <a:ea typeface="楷体" charset="0"/>
                <a:cs typeface="楷体" charset="0"/>
              </a:rPr>
              <a:t>...</a:t>
            </a:r>
          </a:p>
        </p:txBody>
      </p:sp>
      <p:sp>
        <p:nvSpPr>
          <p:cNvPr id="7" name="Rounded Rectangle 6"/>
          <p:cNvSpPr/>
          <p:nvPr/>
        </p:nvSpPr>
        <p:spPr>
          <a:xfrm>
            <a:off x="10515600" y="228600"/>
            <a:ext cx="1097280" cy="5486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 法律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实用口语表达</a:t>
            </a:r>
          </a:p>
        </p:txBody>
      </p:sp>
      <p:sp>
        <p:nvSpPr>
          <p:cNvPr id="6" name="TextBox 5"/>
          <p:cNvSpPr txBox="1"/>
          <p:nvPr/>
        </p:nvSpPr>
        <p:spPr>
          <a:xfrm>
            <a:off x="731520" y="1463040"/>
            <a:ext cx="10515600" cy="4594860"/>
          </a:xfrm>
          <a:prstGeom prst="rect">
            <a:avLst/>
          </a:prstGeom>
          <a:noFill/>
        </p:spPr>
        <p:txBody>
          <a:bodyPr wrap="square">
            <a:spAutoFit/>
          </a:bodyPr>
          <a:lstStyle/>
          <a:p>
            <a:pPr indent="0" fontAlgn="auto">
              <a:lnSpc>
                <a:spcPct val="100000"/>
              </a:lnSpc>
              <a:spcBef>
                <a:spcPts val="1200"/>
              </a:spcBef>
              <a:spcAft>
                <a:spcPts val="800"/>
              </a:spcAft>
              <a:defRPr sz="2200">
                <a:solidFill>
                  <a:srgbClr val="2D2D2D"/>
                </a:solidFill>
                <a:latin typeface="微软雅黑"/>
              </a:defRPr>
            </a:pPr>
            <a:r>
              <a:rPr b="1">
                <a:latin typeface="楷体" charset="0"/>
                <a:ea typeface="楷体" charset="0"/>
                <a:cs typeface="楷体" charset="0"/>
              </a:rPr>
              <a:t>表达愤怒：</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这也太坑人了吧！</a:t>
            </a:r>
            <a:r>
              <a:rPr lang="en-US">
                <a:latin typeface="楷体" charset="0"/>
                <a:ea typeface="楷体" charset="0"/>
                <a:cs typeface="楷体" charset="0"/>
              </a:rPr>
              <a:t>/ </a:t>
            </a:r>
            <a:r>
              <a:rPr>
                <a:latin typeface="楷体" charset="0"/>
                <a:ea typeface="楷体" charset="0"/>
                <a:cs typeface="楷体" charset="0"/>
              </a:rPr>
              <a:t>• 简直就是诈骗！</a:t>
            </a:r>
            <a:r>
              <a:rPr lang="en-US">
                <a:latin typeface="楷体" charset="0"/>
                <a:ea typeface="楷体" charset="0"/>
                <a:cs typeface="楷体" charset="0"/>
              </a:rPr>
              <a:t>/ </a:t>
            </a:r>
            <a:r>
              <a:rPr>
                <a:latin typeface="楷体" charset="0"/>
                <a:ea typeface="楷体" charset="0"/>
                <a:cs typeface="楷体" charset="0"/>
              </a:rPr>
              <a:t>• 早知道就不办卡了。</a:t>
            </a:r>
          </a:p>
          <a:p>
            <a:pPr indent="0" fontAlgn="auto">
              <a:lnSpc>
                <a:spcPct val="100000"/>
              </a:lnSpc>
              <a:spcBef>
                <a:spcPts val="1200"/>
              </a:spcBef>
              <a:spcAft>
                <a:spcPts val="800"/>
              </a:spcAft>
              <a:defRPr sz="2200">
                <a:solidFill>
                  <a:srgbClr val="2D2D2D"/>
                </a:solidFill>
                <a:latin typeface="微软雅黑"/>
              </a:defRPr>
            </a:pPr>
            <a:endParaRPr>
              <a:latin typeface="楷体" charset="0"/>
              <a:ea typeface="楷体" charset="0"/>
              <a:cs typeface="楷体" charset="0"/>
            </a:endParaRPr>
          </a:p>
          <a:p>
            <a:pPr indent="0" fontAlgn="auto">
              <a:lnSpc>
                <a:spcPct val="100000"/>
              </a:lnSpc>
              <a:spcBef>
                <a:spcPts val="1200"/>
              </a:spcBef>
              <a:spcAft>
                <a:spcPts val="800"/>
              </a:spcAft>
              <a:defRPr sz="2200">
                <a:solidFill>
                  <a:srgbClr val="2D2D2D"/>
                </a:solidFill>
                <a:latin typeface="微软雅黑"/>
              </a:defRPr>
            </a:pPr>
            <a:r>
              <a:rPr b="1">
                <a:latin typeface="楷体" charset="0"/>
                <a:ea typeface="楷体" charset="0"/>
                <a:cs typeface="楷体" charset="0"/>
              </a:rPr>
              <a:t>表达无奈：</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维权太难了，耗不起时间和精力。</a:t>
            </a:r>
            <a:r>
              <a:rPr lang="en-US">
                <a:latin typeface="楷体" charset="0"/>
                <a:ea typeface="楷体" charset="0"/>
                <a:cs typeface="楷体" charset="0"/>
              </a:rPr>
              <a:t>/ </a:t>
            </a:r>
            <a:r>
              <a:rPr>
                <a:latin typeface="楷体" charset="0"/>
                <a:ea typeface="楷体" charset="0"/>
                <a:cs typeface="楷体" charset="0"/>
              </a:rPr>
              <a:t>• 钱估计是要不回来了。</a:t>
            </a:r>
            <a:r>
              <a:rPr lang="en-US">
                <a:latin typeface="楷体" charset="0"/>
                <a:ea typeface="楷体" charset="0"/>
                <a:cs typeface="楷体" charset="0"/>
              </a:rPr>
              <a:t>/ </a:t>
            </a:r>
            <a:r>
              <a:rPr>
                <a:latin typeface="楷体" charset="0"/>
                <a:ea typeface="楷体" charset="0"/>
                <a:cs typeface="楷体" charset="0"/>
              </a:rPr>
              <a:t>• 只能自认倒霉了。</a:t>
            </a:r>
          </a:p>
          <a:p>
            <a:pPr indent="0" fontAlgn="auto">
              <a:lnSpc>
                <a:spcPct val="100000"/>
              </a:lnSpc>
              <a:spcBef>
                <a:spcPts val="1200"/>
              </a:spcBef>
              <a:spcAft>
                <a:spcPts val="800"/>
              </a:spcAft>
              <a:defRPr sz="2200">
                <a:solidFill>
                  <a:srgbClr val="2D2D2D"/>
                </a:solidFill>
                <a:latin typeface="微软雅黑"/>
              </a:defRPr>
            </a:pPr>
            <a:endParaRPr>
              <a:latin typeface="楷体" charset="0"/>
              <a:ea typeface="楷体" charset="0"/>
              <a:cs typeface="楷体" charset="0"/>
            </a:endParaRPr>
          </a:p>
          <a:p>
            <a:pPr indent="0" fontAlgn="auto">
              <a:lnSpc>
                <a:spcPct val="100000"/>
              </a:lnSpc>
              <a:spcBef>
                <a:spcPts val="1200"/>
              </a:spcBef>
              <a:spcAft>
                <a:spcPts val="800"/>
              </a:spcAft>
              <a:defRPr sz="2200">
                <a:solidFill>
                  <a:srgbClr val="2D2D2D"/>
                </a:solidFill>
                <a:latin typeface="微软雅黑"/>
              </a:defRPr>
            </a:pPr>
            <a:r>
              <a:rPr b="1">
                <a:latin typeface="楷体" charset="0"/>
                <a:ea typeface="楷体" charset="0"/>
                <a:cs typeface="楷体" charset="0"/>
              </a:rPr>
              <a:t>表达建议：</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以后办卡一定要谨慎。</a:t>
            </a:r>
            <a:r>
              <a:rPr lang="en-US">
                <a:latin typeface="楷体" charset="0"/>
                <a:ea typeface="楷体" charset="0"/>
                <a:cs typeface="楷体" charset="0"/>
              </a:rPr>
              <a:t>/ </a:t>
            </a:r>
            <a:r>
              <a:rPr>
                <a:latin typeface="楷体" charset="0"/>
                <a:ea typeface="楷体" charset="0"/>
                <a:cs typeface="楷体" charset="0"/>
              </a:rPr>
              <a:t>• 最好选月付的健身房。</a:t>
            </a:r>
            <a:r>
              <a:rPr lang="en-US">
                <a:latin typeface="楷体" charset="0"/>
                <a:ea typeface="楷体" charset="0"/>
                <a:cs typeface="楷体" charset="0"/>
              </a:rPr>
              <a:t>/ </a:t>
            </a:r>
            <a:r>
              <a:rPr>
                <a:latin typeface="楷体" charset="0"/>
                <a:ea typeface="楷体" charset="0"/>
                <a:cs typeface="楷体" charset="0"/>
              </a:rPr>
              <a:t>• 签合同前要看清楚条款。</a:t>
            </a:r>
          </a:p>
        </p:txBody>
      </p:sp>
      <p:sp>
        <p:nvSpPr>
          <p:cNvPr id="7" name="Rounded Rectangle 6"/>
          <p:cNvSpPr/>
          <p:nvPr/>
        </p:nvSpPr>
        <p:spPr>
          <a:xfrm>
            <a:off x="10515600" y="228600"/>
            <a:ext cx="1097280" cy="5486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 表达</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课后任务</a:t>
            </a:r>
          </a:p>
        </p:txBody>
      </p:sp>
      <p:sp>
        <p:nvSpPr>
          <p:cNvPr id="6" name="TextBox 5"/>
          <p:cNvSpPr txBox="1"/>
          <p:nvPr/>
        </p:nvSpPr>
        <p:spPr>
          <a:xfrm>
            <a:off x="731520" y="2531110"/>
            <a:ext cx="10515600" cy="2809875"/>
          </a:xfrm>
          <a:prstGeom prst="rect">
            <a:avLst/>
          </a:prstGeom>
          <a:noFill/>
        </p:spPr>
        <p:txBody>
          <a:bodyPr wrap="square">
            <a:spAutoFit/>
          </a:bodyPr>
          <a:lstStyle/>
          <a:p>
            <a:pPr indent="0" fontAlgn="auto">
              <a:lnSpc>
                <a:spcPct val="100000"/>
              </a:lnSpc>
              <a:spcBef>
                <a:spcPts val="1200"/>
              </a:spcBef>
              <a:spcAft>
                <a:spcPts val="800"/>
              </a:spcAft>
              <a:defRPr sz="2200">
                <a:solidFill>
                  <a:srgbClr val="2D2D2D"/>
                </a:solidFill>
                <a:latin typeface="微软雅黑"/>
              </a:defRPr>
            </a:pPr>
            <a:r>
              <a:rPr b="1">
                <a:latin typeface="楷体" charset="0"/>
                <a:ea typeface="楷体" charset="0"/>
                <a:cs typeface="楷体" charset="0"/>
              </a:rPr>
              <a:t>采访你身边的朋友或同学，问他们：</a:t>
            </a:r>
          </a:p>
          <a:p>
            <a:pPr indent="0" fontAlgn="auto">
              <a:lnSpc>
                <a:spcPct val="100000"/>
              </a:lnSpc>
              <a:spcBef>
                <a:spcPts val="1200"/>
              </a:spcBef>
              <a:spcAft>
                <a:spcPts val="800"/>
              </a:spcAft>
              <a:defRPr sz="2200">
                <a:solidFill>
                  <a:srgbClr val="2D2D2D"/>
                </a:solidFill>
                <a:latin typeface="微软雅黑"/>
              </a:defRPr>
            </a:pPr>
            <a:endParaRPr>
              <a:latin typeface="楷体" charset="0"/>
              <a:ea typeface="楷体" charset="0"/>
              <a:cs typeface="楷体" charset="0"/>
            </a:endParaRP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有没有办过预付卡？</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担不担心商家跑路？</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如果跑路了会怎么维权？</a:t>
            </a:r>
          </a:p>
        </p:txBody>
      </p:sp>
      <p:sp>
        <p:nvSpPr>
          <p:cNvPr id="7" name="Rounded Rectangle 6"/>
          <p:cNvSpPr/>
          <p:nvPr/>
        </p:nvSpPr>
        <p:spPr>
          <a:xfrm>
            <a:off x="10515600" y="228600"/>
            <a:ext cx="1097280" cy="5486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 作业</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109728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28600"/>
            <a:ext cx="9144000" cy="731520"/>
          </a:xfrm>
          <a:prstGeom prst="rect">
            <a:avLst/>
          </a:prstGeom>
          <a:noFill/>
        </p:spPr>
        <p:txBody>
          <a:bodyPr wrap="none">
            <a:spAutoFit/>
          </a:bodyPr>
          <a:lstStyle/>
          <a:p>
            <a:pPr>
              <a:defRPr sz="3200" b="1">
                <a:solidFill>
                  <a:srgbClr val="FFFFFF"/>
                </a:solidFill>
                <a:latin typeface="微软雅黑"/>
              </a:defRPr>
            </a:pPr>
            <a:r>
              <a:rPr>
                <a:latin typeface="字由点字青花楷" charset="0"/>
              </a:rPr>
              <a:t>本课总结</a:t>
            </a:r>
          </a:p>
        </p:txBody>
      </p:sp>
      <p:sp>
        <p:nvSpPr>
          <p:cNvPr id="6" name="TextBox 5"/>
          <p:cNvSpPr txBox="1"/>
          <p:nvPr/>
        </p:nvSpPr>
        <p:spPr>
          <a:xfrm>
            <a:off x="731520" y="1520190"/>
            <a:ext cx="10515600" cy="4933950"/>
          </a:xfrm>
          <a:prstGeom prst="rect">
            <a:avLst/>
          </a:prstGeom>
          <a:noFill/>
        </p:spPr>
        <p:txBody>
          <a:bodyPr wrap="square">
            <a:spAutoFit/>
          </a:bodyPr>
          <a:lstStyle/>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核心话题：健身房跑路与预付式消费风险</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重点生词：跑路、维权、倒闭、预付款、欺诈、清场、拖欠、举证、集体诉讼、破产清算</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重点语法：</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 明知……还……（批评语气）</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 不仅……还/而且……（递进）</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 以……为由/为名（借口/名义）</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 致使（导致不好的结果）</a:t>
            </a:r>
          </a:p>
          <a:p>
            <a:pPr indent="0" fontAlgn="auto">
              <a:lnSpc>
                <a:spcPct val="100000"/>
              </a:lnSpc>
              <a:spcBef>
                <a:spcPts val="1200"/>
              </a:spcBef>
              <a:spcAft>
                <a:spcPts val="800"/>
              </a:spcAft>
              <a:defRPr sz="2200">
                <a:solidFill>
                  <a:srgbClr val="2D2D2D"/>
                </a:solidFill>
                <a:latin typeface="微软雅黑"/>
              </a:defRPr>
            </a:pPr>
            <a:r>
              <a:rPr>
                <a:latin typeface="楷体" charset="0"/>
                <a:ea typeface="楷体" charset="0"/>
                <a:cs typeface="楷体" charset="0"/>
              </a:rPr>
              <a:t>   • 鉴于（考虑到，书面语）</a:t>
            </a:r>
          </a:p>
        </p:txBody>
      </p:sp>
      <p:sp>
        <p:nvSpPr>
          <p:cNvPr id="7" name="Rounded Rectangle 6"/>
          <p:cNvSpPr/>
          <p:nvPr/>
        </p:nvSpPr>
        <p:spPr>
          <a:xfrm>
            <a:off x="10515600" y="228600"/>
            <a:ext cx="1097280" cy="548640"/>
          </a:xfrm>
          <a:prstGeom prst="round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 总结</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809</Words>
  <Application>Microsoft Macintosh PowerPoint</Application>
  <PresentationFormat>宽屏</PresentationFormat>
  <Paragraphs>130</Paragraphs>
  <Slides>17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等线</vt:lpstr>
      <vt:lpstr>等线 Light</vt:lpstr>
      <vt:lpstr>楷体</vt:lpstr>
      <vt:lpstr>字由点字青花楷</vt:lpstr>
      <vt:lpstr>FZKTPY01</vt:lpstr>
      <vt:lpstr>Times New Roman Regular</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Lily Ren</dc:creator>
  <cp:lastModifiedBy>Lily Ren</cp:lastModifiedBy>
  <cp:revision>1</cp:revision>
  <dcterms:created xsi:type="dcterms:W3CDTF">2026-10-08T12:49:13Z</dcterms:created>
  <dcterms:modified xsi:type="dcterms:W3CDTF">2026-10-08T12:49:46Z</dcterms:modified>
</cp:coreProperties>
</file>